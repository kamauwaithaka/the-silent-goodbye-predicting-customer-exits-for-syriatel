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6"/>
  </p:notesMasterIdLst>
  <p:sldIdLst>
    <p:sldId id="256" r:id="rId2"/>
    <p:sldId id="271" r:id="rId3"/>
    <p:sldId id="272" r:id="rId4"/>
    <p:sldId id="273" r:id="rId5"/>
    <p:sldId id="285" r:id="rId6"/>
    <p:sldId id="258" r:id="rId7"/>
    <p:sldId id="275" r:id="rId8"/>
    <p:sldId id="274" r:id="rId9"/>
    <p:sldId id="280" r:id="rId10"/>
    <p:sldId id="281" r:id="rId11"/>
    <p:sldId id="282" r:id="rId12"/>
    <p:sldId id="260" r:id="rId13"/>
    <p:sldId id="284" r:id="rId14"/>
    <p:sldId id="286" r:id="rId15"/>
    <p:sldId id="287" r:id="rId16"/>
    <p:sldId id="288" r:id="rId17"/>
    <p:sldId id="291" r:id="rId18"/>
    <p:sldId id="290" r:id="rId19"/>
    <p:sldId id="292" r:id="rId20"/>
    <p:sldId id="293" r:id="rId21"/>
    <p:sldId id="262" r:id="rId22"/>
    <p:sldId id="283" r:id="rId23"/>
    <p:sldId id="268" r:id="rId24"/>
    <p:sldId id="269" r:id="rId25"/>
  </p:sldIdLst>
  <p:sldSz cx="12192000" cy="6858000"/>
  <p:notesSz cx="6858000" cy="9144000"/>
  <p:embeddedFontLst>
    <p:embeddedFont>
      <p:font typeface="Arial Black" panose="020B0604020202020204" pitchFamily="34" charset="0"/>
      <p:bold r:id="rId27"/>
    </p:embeddedFont>
    <p:embeddedFont>
      <p:font typeface="Urbanist" panose="020B0A04040200000203" pitchFamily="34" charset="77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F426FC8-E294-4618-8870-1A7247393AB8}">
  <a:tblStyle styleId="{6F426FC8-E294-4618-8870-1A7247393AB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25"/>
    <p:restoredTop sz="94376"/>
  </p:normalViewPr>
  <p:slideViewPr>
    <p:cSldViewPr snapToGrid="0">
      <p:cViewPr varScale="1">
        <p:scale>
          <a:sx n="93" d="100"/>
          <a:sy n="93" d="100"/>
        </p:scale>
        <p:origin x="208" y="7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3964C105-35E1-61B8-3D02-432511CCD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>
            <a:extLst>
              <a:ext uri="{FF2B5EF4-FFF2-40B4-BE49-F238E27FC236}">
                <a16:creationId xmlns:a16="http://schemas.microsoft.com/office/drawing/2014/main" id="{FE0E1D9A-3BC1-5F45-C03F-74CD41840A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FA10BE00-75BA-C890-C1DD-D88C074310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558260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20F399D2-44BB-1441-1695-2BE7C7E62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>
            <a:extLst>
              <a:ext uri="{FF2B5EF4-FFF2-40B4-BE49-F238E27FC236}">
                <a16:creationId xmlns:a16="http://schemas.microsoft.com/office/drawing/2014/main" id="{2ECD952F-4198-CEE0-0A1E-C9502C231A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613502A3-9086-D0CF-5EA6-1EE1B75FC4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387445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>
          <a:extLst>
            <a:ext uri="{FF2B5EF4-FFF2-40B4-BE49-F238E27FC236}">
              <a16:creationId xmlns:a16="http://schemas.microsoft.com/office/drawing/2014/main" id="{5A26EBB5-E1EE-87E7-4A6B-BC45DF63E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>
            <a:extLst>
              <a:ext uri="{FF2B5EF4-FFF2-40B4-BE49-F238E27FC236}">
                <a16:creationId xmlns:a16="http://schemas.microsoft.com/office/drawing/2014/main" id="{6265D823-470C-F055-827C-C7DFE86A06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>
            <a:extLst>
              <a:ext uri="{FF2B5EF4-FFF2-40B4-BE49-F238E27FC236}">
                <a16:creationId xmlns:a16="http://schemas.microsoft.com/office/drawing/2014/main" id="{D6024C3E-FDE6-31FD-2DC7-4C526BF343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687868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>
          <a:extLst>
            <a:ext uri="{FF2B5EF4-FFF2-40B4-BE49-F238E27FC236}">
              <a16:creationId xmlns:a16="http://schemas.microsoft.com/office/drawing/2014/main" id="{E17E4510-4D93-A4E2-7C08-054B0D678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>
            <a:extLst>
              <a:ext uri="{FF2B5EF4-FFF2-40B4-BE49-F238E27FC236}">
                <a16:creationId xmlns:a16="http://schemas.microsoft.com/office/drawing/2014/main" id="{3C55CD3A-CEB5-9F3C-6C80-6FD9B64571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>
            <a:extLst>
              <a:ext uri="{FF2B5EF4-FFF2-40B4-BE49-F238E27FC236}">
                <a16:creationId xmlns:a16="http://schemas.microsoft.com/office/drawing/2014/main" id="{FB94641A-5EA9-9D4E-2EB6-927E99A7E9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714642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>
          <a:extLst>
            <a:ext uri="{FF2B5EF4-FFF2-40B4-BE49-F238E27FC236}">
              <a16:creationId xmlns:a16="http://schemas.microsoft.com/office/drawing/2014/main" id="{2191EEA9-E743-D0C9-6860-C2DD574DC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>
            <a:extLst>
              <a:ext uri="{FF2B5EF4-FFF2-40B4-BE49-F238E27FC236}">
                <a16:creationId xmlns:a16="http://schemas.microsoft.com/office/drawing/2014/main" id="{0DD63251-3EFB-B240-60B2-C63BF35A22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>
            <a:extLst>
              <a:ext uri="{FF2B5EF4-FFF2-40B4-BE49-F238E27FC236}">
                <a16:creationId xmlns:a16="http://schemas.microsoft.com/office/drawing/2014/main" id="{495DB8D5-E365-3AA9-708F-4630E70DC6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104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>
          <a:extLst>
            <a:ext uri="{FF2B5EF4-FFF2-40B4-BE49-F238E27FC236}">
              <a16:creationId xmlns:a16="http://schemas.microsoft.com/office/drawing/2014/main" id="{5951BA30-9BC7-C814-4662-E4C730933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>
            <a:extLst>
              <a:ext uri="{FF2B5EF4-FFF2-40B4-BE49-F238E27FC236}">
                <a16:creationId xmlns:a16="http://schemas.microsoft.com/office/drawing/2014/main" id="{96D3FE1C-1E4D-C84F-141E-D511EE8CBA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>
            <a:extLst>
              <a:ext uri="{FF2B5EF4-FFF2-40B4-BE49-F238E27FC236}">
                <a16:creationId xmlns:a16="http://schemas.microsoft.com/office/drawing/2014/main" id="{31E81BAD-059D-978A-DD21-FDB0A8B713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19474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CACB01E6-6367-1952-E89D-1517DC5BD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>
            <a:extLst>
              <a:ext uri="{FF2B5EF4-FFF2-40B4-BE49-F238E27FC236}">
                <a16:creationId xmlns:a16="http://schemas.microsoft.com/office/drawing/2014/main" id="{A89B6A32-8269-B646-7FC3-9EA3F8ABC6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3A83A633-CB30-9AF4-D252-E3710E7A32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751832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>
          <a:extLst>
            <a:ext uri="{FF2B5EF4-FFF2-40B4-BE49-F238E27FC236}">
              <a16:creationId xmlns:a16="http://schemas.microsoft.com/office/drawing/2014/main" id="{5FCC7203-913E-F770-21A6-3E6C028AC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2:notes">
            <a:extLst>
              <a:ext uri="{FF2B5EF4-FFF2-40B4-BE49-F238E27FC236}">
                <a16:creationId xmlns:a16="http://schemas.microsoft.com/office/drawing/2014/main" id="{36B33500-BB6C-D08B-611C-29DCD9DA6A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2:notes">
            <a:extLst>
              <a:ext uri="{FF2B5EF4-FFF2-40B4-BE49-F238E27FC236}">
                <a16:creationId xmlns:a16="http://schemas.microsoft.com/office/drawing/2014/main" id="{2C5C8D14-4820-FB90-4CB2-4D14A470E4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926592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>
          <a:extLst>
            <a:ext uri="{FF2B5EF4-FFF2-40B4-BE49-F238E27FC236}">
              <a16:creationId xmlns:a16="http://schemas.microsoft.com/office/drawing/2014/main" id="{C9CA6393-A30B-F622-D06C-BF3892F0C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>
            <a:extLst>
              <a:ext uri="{FF2B5EF4-FFF2-40B4-BE49-F238E27FC236}">
                <a16:creationId xmlns:a16="http://schemas.microsoft.com/office/drawing/2014/main" id="{424E8D13-4087-52A7-F07F-030A28250E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5:notes">
            <a:extLst>
              <a:ext uri="{FF2B5EF4-FFF2-40B4-BE49-F238E27FC236}">
                <a16:creationId xmlns:a16="http://schemas.microsoft.com/office/drawing/2014/main" id="{7C7AABA5-DD5A-99FE-3D26-96E822481C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700404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>
          <a:extLst>
            <a:ext uri="{FF2B5EF4-FFF2-40B4-BE49-F238E27FC236}">
              <a16:creationId xmlns:a16="http://schemas.microsoft.com/office/drawing/2014/main" id="{7A439C50-3EE4-93DD-2959-6E940BDC3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>
            <a:extLst>
              <a:ext uri="{FF2B5EF4-FFF2-40B4-BE49-F238E27FC236}">
                <a16:creationId xmlns:a16="http://schemas.microsoft.com/office/drawing/2014/main" id="{9E3D39F9-2ED9-8B8F-58CD-4EF5520768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>
            <a:extLst>
              <a:ext uri="{FF2B5EF4-FFF2-40B4-BE49-F238E27FC236}">
                <a16:creationId xmlns:a16="http://schemas.microsoft.com/office/drawing/2014/main" id="{8E7F87BB-8A25-CD22-4FB7-ABB6D38763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42945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>
          <a:extLst>
            <a:ext uri="{FF2B5EF4-FFF2-40B4-BE49-F238E27FC236}">
              <a16:creationId xmlns:a16="http://schemas.microsoft.com/office/drawing/2014/main" id="{18BDA40C-3C85-36B8-BFF8-ED95DBAA8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>
            <a:extLst>
              <a:ext uri="{FF2B5EF4-FFF2-40B4-BE49-F238E27FC236}">
                <a16:creationId xmlns:a16="http://schemas.microsoft.com/office/drawing/2014/main" id="{8F2581CE-FBD0-B9A0-1339-7947DBDDD5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5:notes">
            <a:extLst>
              <a:ext uri="{FF2B5EF4-FFF2-40B4-BE49-F238E27FC236}">
                <a16:creationId xmlns:a16="http://schemas.microsoft.com/office/drawing/2014/main" id="{81505DB8-0ECD-A946-78B9-A82E790234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736823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>
          <a:extLst>
            <a:ext uri="{FF2B5EF4-FFF2-40B4-BE49-F238E27FC236}">
              <a16:creationId xmlns:a16="http://schemas.microsoft.com/office/drawing/2014/main" id="{26D74F78-21CE-4C54-2CD1-0EA49E84C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>
            <a:extLst>
              <a:ext uri="{FF2B5EF4-FFF2-40B4-BE49-F238E27FC236}">
                <a16:creationId xmlns:a16="http://schemas.microsoft.com/office/drawing/2014/main" id="{CF2A81C6-C869-8167-A5AE-3D9795352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5:notes">
            <a:extLst>
              <a:ext uri="{FF2B5EF4-FFF2-40B4-BE49-F238E27FC236}">
                <a16:creationId xmlns:a16="http://schemas.microsoft.com/office/drawing/2014/main" id="{EA53354F-3927-725F-1C6A-9262557AA7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011682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6" r:id="rId7"/>
    <p:sldLayoutId id="2147483657" r:id="rId8"/>
    <p:sldLayoutId id="214748365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jpe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2636639"/>
            <a:ext cx="11601450" cy="914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chemeClr val="bg1"/>
                </a:solidFill>
                <a:latin typeface="+mn-lt"/>
                <a:ea typeface="Urbanist"/>
                <a:cs typeface="Urbanist"/>
                <a:sym typeface="Urbanist"/>
              </a:rPr>
              <a:t>The Silent Goodbye</a:t>
            </a:r>
            <a:endParaRPr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2286000" y="3581400"/>
            <a:ext cx="7655442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DAFFDE"/>
                </a:solidFill>
                <a:latin typeface="+mj-lt"/>
                <a:ea typeface="Urbanist"/>
                <a:cs typeface="Urbanist"/>
                <a:sym typeface="Urbanist"/>
              </a:rPr>
              <a:t>Predicting </a:t>
            </a:r>
            <a:r>
              <a:rPr lang="en-US" sz="1800" b="1" i="0" u="none" strike="noStrike" cap="none" dirty="0" err="1">
                <a:solidFill>
                  <a:srgbClr val="DAFFDE"/>
                </a:solidFill>
                <a:latin typeface="+mj-lt"/>
                <a:ea typeface="Urbanist"/>
                <a:cs typeface="Urbanist"/>
                <a:sym typeface="Urbanist"/>
              </a:rPr>
              <a:t>SyriaTel</a:t>
            </a:r>
            <a:r>
              <a:rPr lang="en-US" sz="1800" b="1" i="0" u="none" strike="noStrike" cap="none" dirty="0">
                <a:solidFill>
                  <a:srgbClr val="DAFFDE"/>
                </a:solidFill>
                <a:latin typeface="+mj-lt"/>
                <a:ea typeface="Urbanist"/>
                <a:cs typeface="Urbanist"/>
                <a:sym typeface="Urbanist"/>
              </a:rPr>
              <a:t> Customer Attrition through Advanced Machine Learning Classifiers</a:t>
            </a:r>
            <a:endParaRPr b="1" dirty="0">
              <a:latin typeface="+mj-lt"/>
            </a:endParaRPr>
          </a:p>
        </p:txBody>
      </p:sp>
      <p:sp>
        <p:nvSpPr>
          <p:cNvPr id="2" name="Google Shape;86;p13">
            <a:extLst>
              <a:ext uri="{FF2B5EF4-FFF2-40B4-BE49-F238E27FC236}">
                <a16:creationId xmlns:a16="http://schemas.microsoft.com/office/drawing/2014/main" id="{FB5DC374-3DC2-E7B8-944C-4E928DF02E75}"/>
              </a:ext>
            </a:extLst>
          </p:cNvPr>
          <p:cNvSpPr txBox="1"/>
          <p:nvPr/>
        </p:nvSpPr>
        <p:spPr>
          <a:xfrm>
            <a:off x="9431078" y="5387578"/>
            <a:ext cx="2465647" cy="603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bg1"/>
                </a:solidFill>
              </a:rPr>
              <a:t>Kamau </a:t>
            </a:r>
            <a:r>
              <a:rPr lang="en-US" b="1" dirty="0" err="1">
                <a:solidFill>
                  <a:schemeClr val="bg1"/>
                </a:solidFill>
              </a:rPr>
              <a:t>Waithaka</a:t>
            </a:r>
            <a:endParaRPr lang="en-US" b="1" dirty="0">
              <a:solidFill>
                <a:schemeClr val="bg1"/>
              </a:solidFill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bg1"/>
                </a:solidFill>
              </a:rPr>
              <a:t>Moringa School Consulting</a:t>
            </a:r>
            <a:endParaRPr b="1" dirty="0">
              <a:solidFill>
                <a:schemeClr val="bg1"/>
              </a:solidFill>
            </a:endParaRPr>
          </a:p>
        </p:txBody>
      </p:sp>
    </p:spTree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39">
            <a:extLst>
              <a:ext uri="{FF2B5EF4-FFF2-40B4-BE49-F238E27FC236}">
                <a16:creationId xmlns:a16="http://schemas.microsoft.com/office/drawing/2014/main" id="{CAE710A2-E615-4AEB-B317-C194B4B2D24F}"/>
              </a:ext>
            </a:extLst>
          </p:cNvPr>
          <p:cNvGrpSpPr/>
          <p:nvPr/>
        </p:nvGrpSpPr>
        <p:grpSpPr>
          <a:xfrm>
            <a:off x="1384151" y="1430176"/>
            <a:ext cx="9423698" cy="4691517"/>
            <a:chOff x="839097" y="1322599"/>
            <a:chExt cx="9423698" cy="4691517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8300E95E-EDA0-4BCE-B594-416FFB2764C2}"/>
                </a:ext>
              </a:extLst>
            </p:cNvPr>
            <p:cNvGrpSpPr/>
            <p:nvPr/>
          </p:nvGrpSpPr>
          <p:grpSpPr>
            <a:xfrm>
              <a:off x="839097" y="1322599"/>
              <a:ext cx="3829722" cy="957430"/>
              <a:chOff x="839097" y="1709874"/>
              <a:chExt cx="3829722" cy="957430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B5C00C39-D213-4B56-B9F6-192C159B9467}"/>
                  </a:ext>
                </a:extLst>
              </p:cNvPr>
              <p:cNvSpPr/>
              <p:nvPr/>
            </p:nvSpPr>
            <p:spPr>
              <a:xfrm>
                <a:off x="839097" y="1709874"/>
                <a:ext cx="996777" cy="95743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 Black" panose="020B0A04020102020204" pitchFamily="34" charset="0"/>
                  </a:rPr>
                  <a:t>01</a:t>
                </a:r>
              </a:p>
            </p:txBody>
          </p: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F3D7A8B2-77EA-4FC4-A281-F9E4AF4867C1}"/>
                  </a:ext>
                </a:extLst>
              </p:cNvPr>
              <p:cNvGrpSpPr/>
              <p:nvPr/>
            </p:nvGrpSpPr>
            <p:grpSpPr>
              <a:xfrm>
                <a:off x="2054711" y="1730652"/>
                <a:ext cx="2614108" cy="368433"/>
                <a:chOff x="2054711" y="1624405"/>
                <a:chExt cx="2614108" cy="368433"/>
              </a:xfrm>
            </p:grpSpPr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434619B8-8B35-49D2-A11F-445FC467C1AF}"/>
                    </a:ext>
                  </a:extLst>
                </p:cNvPr>
                <p:cNvSpPr txBox="1"/>
                <p:nvPr/>
              </p:nvSpPr>
              <p:spPr>
                <a:xfrm>
                  <a:off x="2054711" y="1624405"/>
                  <a:ext cx="261410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1" dirty="0">
                      <a:solidFill>
                        <a:schemeClr val="bg1"/>
                      </a:solidFill>
                      <a:latin typeface="Arial Black" panose="020B0A04020102020204" pitchFamily="34" charset="0"/>
                    </a:rPr>
                    <a:t>Project Overview</a:t>
                  </a:r>
                  <a:endParaRPr lang="en-US" sz="1400" b="1" dirty="0">
                    <a:solidFill>
                      <a:schemeClr val="bg1"/>
                    </a:solidFill>
                    <a:latin typeface="Arial Black" panose="020B0A04020102020204" pitchFamily="34" charset="0"/>
                  </a:endParaRPr>
                </a:p>
              </p:txBody>
            </p:sp>
            <p:sp>
              <p:nvSpPr>
                <p:cNvPr id="7" name="Rectangle: Rounded Corners 6">
                  <a:extLst>
                    <a:ext uri="{FF2B5EF4-FFF2-40B4-BE49-F238E27FC236}">
                      <a16:creationId xmlns:a16="http://schemas.microsoft.com/office/drawing/2014/main" id="{8B1C6198-7363-4830-8E58-2E46AC7C9CA7}"/>
                    </a:ext>
                  </a:extLst>
                </p:cNvPr>
                <p:cNvSpPr/>
                <p:nvPr/>
              </p:nvSpPr>
              <p:spPr>
                <a:xfrm>
                  <a:off x="2162291" y="1956403"/>
                  <a:ext cx="1137998" cy="36435"/>
                </a:xfrm>
                <a:prstGeom prst="roundRect">
                  <a:avLst>
                    <a:gd name="adj" fmla="val 50000"/>
                  </a:avLst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8ADF9F2C-7AA6-4D50-90BE-D4532EB8ADC6}"/>
                </a:ext>
              </a:extLst>
            </p:cNvPr>
            <p:cNvGrpSpPr/>
            <p:nvPr/>
          </p:nvGrpSpPr>
          <p:grpSpPr>
            <a:xfrm>
              <a:off x="839097" y="3189642"/>
              <a:ext cx="3829722" cy="957430"/>
              <a:chOff x="839097" y="1709874"/>
              <a:chExt cx="3829722" cy="957430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E1A0B96B-2B12-47B7-A584-FBAE65D5186A}"/>
                  </a:ext>
                </a:extLst>
              </p:cNvPr>
              <p:cNvSpPr/>
              <p:nvPr/>
            </p:nvSpPr>
            <p:spPr>
              <a:xfrm>
                <a:off x="839097" y="1709874"/>
                <a:ext cx="996777" cy="95743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 Black" panose="020B0A04020102020204" pitchFamily="34" charset="0"/>
                  </a:rPr>
                  <a:t>02</a:t>
                </a:r>
              </a:p>
            </p:txBody>
          </p: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60DADD54-8149-4B02-A0AB-186441CF0DD3}"/>
                  </a:ext>
                </a:extLst>
              </p:cNvPr>
              <p:cNvGrpSpPr/>
              <p:nvPr/>
            </p:nvGrpSpPr>
            <p:grpSpPr>
              <a:xfrm>
                <a:off x="2054711" y="1730652"/>
                <a:ext cx="2614108" cy="368433"/>
                <a:chOff x="2054711" y="1624405"/>
                <a:chExt cx="2614108" cy="368433"/>
              </a:xfrm>
            </p:grpSpPr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D0AEA0D6-F214-46D6-BABE-796BA885CC5B}"/>
                    </a:ext>
                  </a:extLst>
                </p:cNvPr>
                <p:cNvSpPr txBox="1"/>
                <p:nvPr/>
              </p:nvSpPr>
              <p:spPr>
                <a:xfrm>
                  <a:off x="2054711" y="1624405"/>
                  <a:ext cx="261410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b="1" dirty="0">
                      <a:solidFill>
                        <a:schemeClr val="bg1"/>
                      </a:solidFill>
                      <a:latin typeface="Arial Black" panose="020B0A04020102020204" pitchFamily="34" charset="0"/>
                    </a:rPr>
                    <a:t>EDA </a:t>
                  </a:r>
                </a:p>
              </p:txBody>
            </p:sp>
            <p:sp>
              <p:nvSpPr>
                <p:cNvPr id="15" name="Rectangle: Rounded Corners 14">
                  <a:extLst>
                    <a:ext uri="{FF2B5EF4-FFF2-40B4-BE49-F238E27FC236}">
                      <a16:creationId xmlns:a16="http://schemas.microsoft.com/office/drawing/2014/main" id="{895222DA-B7D0-4BEA-AB7A-05A00CEE7B59}"/>
                    </a:ext>
                  </a:extLst>
                </p:cNvPr>
                <p:cNvSpPr/>
                <p:nvPr/>
              </p:nvSpPr>
              <p:spPr>
                <a:xfrm>
                  <a:off x="2162291" y="1956403"/>
                  <a:ext cx="1137998" cy="364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B5476D75-6119-479B-B092-3D09D20E3EBE}"/>
                </a:ext>
              </a:extLst>
            </p:cNvPr>
            <p:cNvGrpSpPr/>
            <p:nvPr/>
          </p:nvGrpSpPr>
          <p:grpSpPr>
            <a:xfrm>
              <a:off x="839097" y="5056686"/>
              <a:ext cx="3829722" cy="957430"/>
              <a:chOff x="839097" y="1709874"/>
              <a:chExt cx="3829722" cy="95743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F64320B2-D146-40C3-93FA-71F79CC7E331}"/>
                  </a:ext>
                </a:extLst>
              </p:cNvPr>
              <p:cNvSpPr/>
              <p:nvPr/>
            </p:nvSpPr>
            <p:spPr>
              <a:xfrm>
                <a:off x="839097" y="1709874"/>
                <a:ext cx="996777" cy="95743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 Black" panose="020B0A04020102020204" pitchFamily="34" charset="0"/>
                  </a:rPr>
                  <a:t>03</a:t>
                </a:r>
              </a:p>
            </p:txBody>
          </p: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E5139006-3072-4CFE-8BAB-BAB8C060F9B4}"/>
                  </a:ext>
                </a:extLst>
              </p:cNvPr>
              <p:cNvGrpSpPr/>
              <p:nvPr/>
            </p:nvGrpSpPr>
            <p:grpSpPr>
              <a:xfrm>
                <a:off x="2054711" y="1730652"/>
                <a:ext cx="2614108" cy="368433"/>
                <a:chOff x="2054711" y="1624405"/>
                <a:chExt cx="2614108" cy="368433"/>
              </a:xfrm>
            </p:grpSpPr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EABF6806-9D3C-4448-8A09-E12E035C9F28}"/>
                    </a:ext>
                  </a:extLst>
                </p:cNvPr>
                <p:cNvSpPr txBox="1"/>
                <p:nvPr/>
              </p:nvSpPr>
              <p:spPr>
                <a:xfrm>
                  <a:off x="2054711" y="1624405"/>
                  <a:ext cx="261410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1" dirty="0">
                      <a:solidFill>
                        <a:schemeClr val="bg1"/>
                      </a:solidFill>
                      <a:latin typeface="Arial Black" panose="020B0A04020102020204" pitchFamily="34" charset="0"/>
                    </a:rPr>
                    <a:t>Methodology</a:t>
                  </a:r>
                  <a:endParaRPr lang="en-US" sz="1400" b="1" dirty="0">
                    <a:solidFill>
                      <a:schemeClr val="bg1"/>
                    </a:solidFill>
                    <a:latin typeface="Arial Black" panose="020B0A04020102020204" pitchFamily="34" charset="0"/>
                  </a:endParaRPr>
                </a:p>
              </p:txBody>
            </p:sp>
            <p:sp>
              <p:nvSpPr>
                <p:cNvPr id="21" name="Rectangle: Rounded Corners 20">
                  <a:extLst>
                    <a:ext uri="{FF2B5EF4-FFF2-40B4-BE49-F238E27FC236}">
                      <a16:creationId xmlns:a16="http://schemas.microsoft.com/office/drawing/2014/main" id="{7836F577-3C78-4EC4-8677-B8AAFC390D2F}"/>
                    </a:ext>
                  </a:extLst>
                </p:cNvPr>
                <p:cNvSpPr/>
                <p:nvPr/>
              </p:nvSpPr>
              <p:spPr>
                <a:xfrm>
                  <a:off x="2162291" y="1956403"/>
                  <a:ext cx="1137998" cy="364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27D807A-D227-43DE-9E92-5C0DBB935ACF}"/>
                </a:ext>
              </a:extLst>
            </p:cNvPr>
            <p:cNvGrpSpPr/>
            <p:nvPr/>
          </p:nvGrpSpPr>
          <p:grpSpPr>
            <a:xfrm>
              <a:off x="6433073" y="1322599"/>
              <a:ext cx="3829722" cy="957430"/>
              <a:chOff x="839097" y="1709874"/>
              <a:chExt cx="3829722" cy="957430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B8CC7EC5-50AA-45E9-93A1-F54B83DEFD4E}"/>
                  </a:ext>
                </a:extLst>
              </p:cNvPr>
              <p:cNvSpPr/>
              <p:nvPr/>
            </p:nvSpPr>
            <p:spPr>
              <a:xfrm>
                <a:off x="839097" y="1709874"/>
                <a:ext cx="996777" cy="95743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 Black" panose="020B0A04020102020204" pitchFamily="34" charset="0"/>
                  </a:rPr>
                  <a:t>04</a:t>
                </a:r>
              </a:p>
            </p:txBody>
          </p: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8F4F1B2D-8D3A-4991-92C7-EAD28EB7C97E}"/>
                  </a:ext>
                </a:extLst>
              </p:cNvPr>
              <p:cNvGrpSpPr/>
              <p:nvPr/>
            </p:nvGrpSpPr>
            <p:grpSpPr>
              <a:xfrm>
                <a:off x="2054711" y="1730652"/>
                <a:ext cx="2614108" cy="368433"/>
                <a:chOff x="2054711" y="1624405"/>
                <a:chExt cx="2614108" cy="368433"/>
              </a:xfrm>
            </p:grpSpPr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6495E09C-4F6A-4877-9F71-DC6D5E48A320}"/>
                    </a:ext>
                  </a:extLst>
                </p:cNvPr>
                <p:cNvSpPr txBox="1"/>
                <p:nvPr/>
              </p:nvSpPr>
              <p:spPr>
                <a:xfrm>
                  <a:off x="2054711" y="1624405"/>
                  <a:ext cx="261410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1" dirty="0">
                      <a:solidFill>
                        <a:schemeClr val="bg1"/>
                      </a:solidFill>
                      <a:latin typeface="Arial Black" panose="020B0A04020102020204" pitchFamily="34" charset="0"/>
                    </a:rPr>
                    <a:t>Modelling  </a:t>
                  </a:r>
                  <a:endParaRPr lang="en-US" sz="1400" b="1" dirty="0">
                    <a:solidFill>
                      <a:schemeClr val="bg1"/>
                    </a:solidFill>
                    <a:latin typeface="Arial Black" panose="020B0A04020102020204" pitchFamily="34" charset="0"/>
                  </a:endParaRPr>
                </a:p>
              </p:txBody>
            </p:sp>
            <p:sp>
              <p:nvSpPr>
                <p:cNvPr id="27" name="Rectangle: Rounded Corners 26">
                  <a:extLst>
                    <a:ext uri="{FF2B5EF4-FFF2-40B4-BE49-F238E27FC236}">
                      <a16:creationId xmlns:a16="http://schemas.microsoft.com/office/drawing/2014/main" id="{EBB6D333-F62D-4EC1-8B52-3A357F4EDA32}"/>
                    </a:ext>
                  </a:extLst>
                </p:cNvPr>
                <p:cNvSpPr/>
                <p:nvPr/>
              </p:nvSpPr>
              <p:spPr>
                <a:xfrm>
                  <a:off x="2162291" y="1956403"/>
                  <a:ext cx="1137998" cy="364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1B820149-0C53-4275-8EB3-C50EC0B12C16}"/>
                </a:ext>
              </a:extLst>
            </p:cNvPr>
            <p:cNvGrpSpPr/>
            <p:nvPr/>
          </p:nvGrpSpPr>
          <p:grpSpPr>
            <a:xfrm>
              <a:off x="6433073" y="3189642"/>
              <a:ext cx="3829722" cy="957430"/>
              <a:chOff x="839097" y="1709874"/>
              <a:chExt cx="3829722" cy="957430"/>
            </a:xfrm>
          </p:grpSpPr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72C427E3-541B-4F7F-9E88-3518E33DCA5D}"/>
                  </a:ext>
                </a:extLst>
              </p:cNvPr>
              <p:cNvSpPr/>
              <p:nvPr/>
            </p:nvSpPr>
            <p:spPr>
              <a:xfrm>
                <a:off x="839097" y="1709874"/>
                <a:ext cx="996777" cy="95743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 Black" panose="020B0A04020102020204" pitchFamily="34" charset="0"/>
                  </a:rPr>
                  <a:t>05</a:t>
                </a:r>
              </a:p>
            </p:txBody>
          </p:sp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456C5FDC-18C0-43F7-A99D-CCB374E35E27}"/>
                  </a:ext>
                </a:extLst>
              </p:cNvPr>
              <p:cNvGrpSpPr/>
              <p:nvPr/>
            </p:nvGrpSpPr>
            <p:grpSpPr>
              <a:xfrm>
                <a:off x="2054711" y="1730652"/>
                <a:ext cx="2614108" cy="368433"/>
                <a:chOff x="2054711" y="1624405"/>
                <a:chExt cx="2614108" cy="368433"/>
              </a:xfrm>
            </p:grpSpPr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E259583A-BB5B-4572-8DBC-F3575E14C4FB}"/>
                    </a:ext>
                  </a:extLst>
                </p:cNvPr>
                <p:cNvSpPr txBox="1"/>
                <p:nvPr/>
              </p:nvSpPr>
              <p:spPr>
                <a:xfrm>
                  <a:off x="2054711" y="1624405"/>
                  <a:ext cx="261410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1" dirty="0">
                      <a:solidFill>
                        <a:schemeClr val="bg1"/>
                      </a:solidFill>
                      <a:latin typeface="Arial Black" panose="020B0A04020102020204" pitchFamily="34" charset="0"/>
                    </a:rPr>
                    <a:t>Insights  </a:t>
                  </a:r>
                  <a:endParaRPr lang="en-US" sz="1400" b="1" dirty="0">
                    <a:solidFill>
                      <a:schemeClr val="bg1"/>
                    </a:solidFill>
                    <a:latin typeface="Arial Black" panose="020B0A04020102020204" pitchFamily="34" charset="0"/>
                  </a:endParaRPr>
                </a:p>
              </p:txBody>
            </p:sp>
            <p:sp>
              <p:nvSpPr>
                <p:cNvPr id="33" name="Rectangle: Rounded Corners 32">
                  <a:extLst>
                    <a:ext uri="{FF2B5EF4-FFF2-40B4-BE49-F238E27FC236}">
                      <a16:creationId xmlns:a16="http://schemas.microsoft.com/office/drawing/2014/main" id="{224ACA68-3847-4BF2-A5E4-2F97BC5483C1}"/>
                    </a:ext>
                  </a:extLst>
                </p:cNvPr>
                <p:cNvSpPr/>
                <p:nvPr/>
              </p:nvSpPr>
              <p:spPr>
                <a:xfrm>
                  <a:off x="2162291" y="1956403"/>
                  <a:ext cx="1137998" cy="364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E69DC2F1-BE5C-441E-83BE-45BDF4B655E3}"/>
                </a:ext>
              </a:extLst>
            </p:cNvPr>
            <p:cNvGrpSpPr/>
            <p:nvPr/>
          </p:nvGrpSpPr>
          <p:grpSpPr>
            <a:xfrm>
              <a:off x="6433073" y="5056686"/>
              <a:ext cx="3829722" cy="957430"/>
              <a:chOff x="839097" y="1709874"/>
              <a:chExt cx="3829722" cy="957430"/>
            </a:xfrm>
          </p:grpSpPr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85B3C899-FBE3-40CF-B318-90C5C0084505}"/>
                  </a:ext>
                </a:extLst>
              </p:cNvPr>
              <p:cNvSpPr/>
              <p:nvPr/>
            </p:nvSpPr>
            <p:spPr>
              <a:xfrm>
                <a:off x="839097" y="1709874"/>
                <a:ext cx="996777" cy="95743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 Black" panose="020B0A04020102020204" pitchFamily="34" charset="0"/>
                  </a:rPr>
                  <a:t>06</a:t>
                </a:r>
              </a:p>
            </p:txBody>
          </p: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5CE3BBBE-5B76-464C-8192-4D38EC8E3C18}"/>
                  </a:ext>
                </a:extLst>
              </p:cNvPr>
              <p:cNvGrpSpPr/>
              <p:nvPr/>
            </p:nvGrpSpPr>
            <p:grpSpPr>
              <a:xfrm>
                <a:off x="2054711" y="1730652"/>
                <a:ext cx="2614108" cy="368433"/>
                <a:chOff x="2054711" y="1624405"/>
                <a:chExt cx="2614108" cy="368433"/>
              </a:xfrm>
            </p:grpSpPr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B65E811F-ABE7-44FF-9CD7-7A061244BF11}"/>
                    </a:ext>
                  </a:extLst>
                </p:cNvPr>
                <p:cNvSpPr txBox="1"/>
                <p:nvPr/>
              </p:nvSpPr>
              <p:spPr>
                <a:xfrm>
                  <a:off x="2054711" y="1624405"/>
                  <a:ext cx="261410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1" dirty="0">
                      <a:solidFill>
                        <a:schemeClr val="bg1"/>
                      </a:solidFill>
                      <a:latin typeface="Arial Black" panose="020B0A04020102020204" pitchFamily="34" charset="0"/>
                    </a:rPr>
                    <a:t>Recommendations</a:t>
                  </a:r>
                  <a:r>
                    <a:rPr lang="en-US" b="1" dirty="0">
                      <a:latin typeface="Arial Black" panose="020B0A04020102020204" pitchFamily="34" charset="0"/>
                    </a:rPr>
                    <a:t> </a:t>
                  </a:r>
                  <a:endParaRPr lang="en-US" sz="1400" b="1" dirty="0">
                    <a:latin typeface="Arial Black" panose="020B0A04020102020204" pitchFamily="34" charset="0"/>
                  </a:endParaRPr>
                </a:p>
              </p:txBody>
            </p:sp>
            <p:sp>
              <p:nvSpPr>
                <p:cNvPr id="39" name="Rectangle: Rounded Corners 38">
                  <a:extLst>
                    <a:ext uri="{FF2B5EF4-FFF2-40B4-BE49-F238E27FC236}">
                      <a16:creationId xmlns:a16="http://schemas.microsoft.com/office/drawing/2014/main" id="{8BFB9FA1-F736-43C3-8418-45B57BF10653}"/>
                    </a:ext>
                  </a:extLst>
                </p:cNvPr>
                <p:cNvSpPr/>
                <p:nvPr/>
              </p:nvSpPr>
              <p:spPr>
                <a:xfrm>
                  <a:off x="2162291" y="1956403"/>
                  <a:ext cx="1137998" cy="364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5DB7FEC4-9B07-4B16-9772-A2294792DDCC}"/>
              </a:ext>
            </a:extLst>
          </p:cNvPr>
          <p:cNvSpPr txBox="1"/>
          <p:nvPr/>
        </p:nvSpPr>
        <p:spPr>
          <a:xfrm>
            <a:off x="0" y="247427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Presentation Outline</a:t>
            </a:r>
          </a:p>
        </p:txBody>
      </p:sp>
    </p:spTree>
    <p:extLst>
      <p:ext uri="{BB962C8B-B14F-4D97-AF65-F5344CB8AC3E}">
        <p14:creationId xmlns:p14="http://schemas.microsoft.com/office/powerpoint/2010/main" val="41696489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Shape 90">
          <a:extLst>
            <a:ext uri="{FF2B5EF4-FFF2-40B4-BE49-F238E27FC236}">
              <a16:creationId xmlns:a16="http://schemas.microsoft.com/office/drawing/2014/main" id="{25D4A478-A460-FF32-94CE-0577EE457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>
            <a:extLst>
              <a:ext uri="{FF2B5EF4-FFF2-40B4-BE49-F238E27FC236}">
                <a16:creationId xmlns:a16="http://schemas.microsoft.com/office/drawing/2014/main" id="{3E18F651-5309-76AB-7574-28FCDF7D134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47054" y="2015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4" descr="image.png">
            <a:extLst>
              <a:ext uri="{FF2B5EF4-FFF2-40B4-BE49-F238E27FC236}">
                <a16:creationId xmlns:a16="http://schemas.microsoft.com/office/drawing/2014/main" id="{1C8DBE15-57C8-EA5B-AE53-42ADCA791C4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811017"/>
            <a:ext cx="11049000" cy="62091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72261731-A85D-BB68-D2C4-B8E9C19D31CC}"/>
              </a:ext>
            </a:extLst>
          </p:cNvPr>
          <p:cNvSpPr txBox="1"/>
          <p:nvPr/>
        </p:nvSpPr>
        <p:spPr>
          <a:xfrm>
            <a:off x="571500" y="381000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Project </a:t>
            </a:r>
            <a:r>
              <a:rPr lang="en-US" sz="3600" b="1" dirty="0">
                <a:solidFill>
                  <a:srgbClr val="F5F5F5"/>
                </a:solidFill>
                <a:latin typeface="+mn-lt"/>
                <a:ea typeface="Urbanist"/>
                <a:cs typeface="Urbanist"/>
                <a:sym typeface="Urbanist"/>
              </a:rPr>
              <a:t>Overview</a:t>
            </a:r>
            <a:endParaRPr dirty="0">
              <a:latin typeface="+mn-lt"/>
            </a:endParaRPr>
          </a:p>
        </p:txBody>
      </p:sp>
      <p:sp>
        <p:nvSpPr>
          <p:cNvPr id="97" name="Google Shape;97;p14">
            <a:extLst>
              <a:ext uri="{FF2B5EF4-FFF2-40B4-BE49-F238E27FC236}">
                <a16:creationId xmlns:a16="http://schemas.microsoft.com/office/drawing/2014/main" id="{CF9B8B1E-E3AF-9805-2DEC-B25CC0EED714}"/>
              </a:ext>
            </a:extLst>
          </p:cNvPr>
          <p:cNvSpPr txBox="1"/>
          <p:nvPr/>
        </p:nvSpPr>
        <p:spPr>
          <a:xfrm>
            <a:off x="800100" y="5001517"/>
            <a:ext cx="10629900" cy="290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i="1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Prevent before they even know!</a:t>
            </a:r>
            <a:r>
              <a:rPr lang="en-US" sz="1350" b="0" i="1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3AB3844-71EE-BAD2-6383-191D7F16CE65}"/>
              </a:ext>
            </a:extLst>
          </p:cNvPr>
          <p:cNvGrpSpPr/>
          <p:nvPr/>
        </p:nvGrpSpPr>
        <p:grpSpPr>
          <a:xfrm>
            <a:off x="3936657" y="1313983"/>
            <a:ext cx="3765499" cy="2968000"/>
            <a:chOff x="4127601" y="1313983"/>
            <a:chExt cx="3765499" cy="2968000"/>
          </a:xfrm>
        </p:grpSpPr>
        <p:pic>
          <p:nvPicPr>
            <p:cNvPr id="93" name="Google Shape;93;p14" descr="image.png">
              <a:extLst>
                <a:ext uri="{FF2B5EF4-FFF2-40B4-BE49-F238E27FC236}">
                  <a16:creationId xmlns:a16="http://schemas.microsoft.com/office/drawing/2014/main" id="{50D36838-2F32-B3F6-EC01-EBA9F906F17F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127601" y="1313983"/>
              <a:ext cx="3765499" cy="296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8" name="Google Shape;98;p14" descr="image.png">
              <a:extLst>
                <a:ext uri="{FF2B5EF4-FFF2-40B4-BE49-F238E27FC236}">
                  <a16:creationId xmlns:a16="http://schemas.microsoft.com/office/drawing/2014/main" id="{62551AE1-85C9-C5AE-87B9-40C7D26F9F06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315874" y="1467089"/>
              <a:ext cx="2965400" cy="381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" name="Google Shape;99;p14">
              <a:extLst>
                <a:ext uri="{FF2B5EF4-FFF2-40B4-BE49-F238E27FC236}">
                  <a16:creationId xmlns:a16="http://schemas.microsoft.com/office/drawing/2014/main" id="{B5D39F94-8217-617C-C1F2-DEE359815178}"/>
                </a:ext>
              </a:extLst>
            </p:cNvPr>
            <p:cNvSpPr txBox="1"/>
            <p:nvPr/>
          </p:nvSpPr>
          <p:spPr>
            <a:xfrm>
              <a:off x="4613529" y="1782516"/>
              <a:ext cx="3113670" cy="23883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i="0" u="none" strike="noStrike" cap="none" dirty="0">
                  <a:solidFill>
                    <a:srgbClr val="F5F5F5"/>
                  </a:solidFill>
                  <a:latin typeface="+mn-lt"/>
                  <a:ea typeface="Urbanist"/>
                  <a:cs typeface="Urbanist"/>
                  <a:sym typeface="Urbanist"/>
                </a:rPr>
                <a:t>Business Case</a:t>
              </a:r>
            </a:p>
            <a:p>
              <a:pPr marL="285750" marR="0" lvl="0" indent="-285750" algn="l" rtl="0">
                <a:lnSpc>
                  <a:spcPct val="139925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US" sz="1400" b="1" i="0" u="none" strike="noStrike" cap="none" dirty="0">
                  <a:solidFill>
                    <a:schemeClr val="bg1"/>
                  </a:solidFill>
                  <a:latin typeface="+mn-lt"/>
                  <a:ea typeface="Urbanist"/>
                  <a:cs typeface="Urbanist"/>
                  <a:sym typeface="Urbanist"/>
                </a:rPr>
                <a:t>Understanding </a:t>
              </a:r>
              <a:r>
                <a:rPr lang="en-US" sz="1400" b="1" dirty="0">
                  <a:solidFill>
                    <a:schemeClr val="bg1"/>
                  </a:solidFill>
                  <a:latin typeface="+mn-lt"/>
                  <a:ea typeface="Urbanist"/>
                  <a:cs typeface="Urbanist"/>
                  <a:sym typeface="Urbanist"/>
                </a:rPr>
                <a:t>customer </a:t>
              </a:r>
              <a:r>
                <a:rPr lang="en-US" sz="1400" b="1" i="0" u="none" strike="noStrike" cap="none" dirty="0">
                  <a:solidFill>
                    <a:schemeClr val="bg1"/>
                  </a:solidFill>
                  <a:latin typeface="+mn-lt"/>
                  <a:ea typeface="Urbanist"/>
                  <a:cs typeface="Urbanist"/>
                  <a:sym typeface="Urbanist"/>
                </a:rPr>
                <a:t>attrition.</a:t>
              </a:r>
            </a:p>
            <a:p>
              <a:pPr marL="285750" marR="0" lvl="0" indent="-285750" algn="l" rtl="0">
                <a:lnSpc>
                  <a:spcPct val="139925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endParaRPr lang="en-US" sz="1400" b="1" i="0" u="none" strike="noStrike" cap="none" dirty="0">
                <a:solidFill>
                  <a:schemeClr val="bg1"/>
                </a:solidFill>
                <a:latin typeface="+mn-lt"/>
                <a:ea typeface="Urbanist"/>
                <a:cs typeface="Urbanist"/>
                <a:sym typeface="Urbanist"/>
              </a:endParaRPr>
            </a:p>
            <a:p>
              <a:pPr marL="285750" marR="0" lvl="0" indent="-285750" algn="l" rtl="0">
                <a:lnSpc>
                  <a:spcPct val="139925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US" sz="1400" b="1" dirty="0">
                  <a:solidFill>
                    <a:schemeClr val="bg1"/>
                  </a:solidFill>
                  <a:latin typeface="+mn-lt"/>
                  <a:ea typeface="Urbanist"/>
                  <a:cs typeface="Urbanist"/>
                  <a:sym typeface="Urbanist"/>
                </a:rPr>
                <a:t>Developing targeted retention intervention . </a:t>
              </a:r>
            </a:p>
            <a:p>
              <a:pPr marL="285750" marR="0" lvl="0" indent="-285750" algn="l" rtl="0">
                <a:lnSpc>
                  <a:spcPct val="139925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endParaRPr lang="en-US" sz="1400" b="1" dirty="0">
                <a:solidFill>
                  <a:schemeClr val="bg1"/>
                </a:solidFill>
                <a:latin typeface="+mn-lt"/>
                <a:ea typeface="Urbanist"/>
                <a:cs typeface="Urbanist"/>
                <a:sym typeface="Urbanist"/>
              </a:endParaRPr>
            </a:p>
            <a:p>
              <a:pPr marL="285750" marR="0" lvl="0" indent="-285750" algn="l" rtl="0">
                <a:lnSpc>
                  <a:spcPct val="139925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US" b="1" dirty="0">
                  <a:solidFill>
                    <a:schemeClr val="bg1"/>
                  </a:solidFill>
                  <a:latin typeface="+mn-lt"/>
                  <a:ea typeface="Urbanist"/>
                  <a:cs typeface="Urbanist"/>
                  <a:sym typeface="Urbanist"/>
                </a:rPr>
                <a:t>Build </a:t>
              </a:r>
              <a:r>
                <a:rPr lang="en-US" sz="1400" b="1" dirty="0">
                  <a:solidFill>
                    <a:schemeClr val="bg1"/>
                  </a:solidFill>
                  <a:latin typeface="+mn-lt"/>
                  <a:ea typeface="Urbanist"/>
                  <a:cs typeface="Urbanist"/>
                  <a:sym typeface="Urbanist"/>
                </a:rPr>
                <a:t>ML prediction classifier. </a:t>
              </a:r>
              <a:endParaRPr lang="en-US" b="1" dirty="0">
                <a:solidFill>
                  <a:schemeClr val="bg1"/>
                </a:solidFill>
                <a:latin typeface="+mn-lt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3165D4FF-2316-52CC-8256-6350DEB171AC}"/>
              </a:ext>
            </a:extLst>
          </p:cNvPr>
          <p:cNvGrpSpPr/>
          <p:nvPr/>
        </p:nvGrpSpPr>
        <p:grpSpPr>
          <a:xfrm>
            <a:off x="221476" y="1307548"/>
            <a:ext cx="3451175" cy="3083605"/>
            <a:chOff x="221476" y="1307548"/>
            <a:chExt cx="3451175" cy="3083605"/>
          </a:xfrm>
        </p:grpSpPr>
        <p:pic>
          <p:nvPicPr>
            <p:cNvPr id="94" name="Google Shape;94;p14" descr="image.png">
              <a:extLst>
                <a:ext uri="{FF2B5EF4-FFF2-40B4-BE49-F238E27FC236}">
                  <a16:creationId xmlns:a16="http://schemas.microsoft.com/office/drawing/2014/main" id="{925ECF45-D772-1EC1-ABA5-4258940B21BE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221476" y="1307548"/>
              <a:ext cx="3451175" cy="307012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" name="Google Shape;101;p14" descr="image.png">
              <a:extLst>
                <a:ext uri="{FF2B5EF4-FFF2-40B4-BE49-F238E27FC236}">
                  <a16:creationId xmlns:a16="http://schemas.microsoft.com/office/drawing/2014/main" id="{7A5C8E1B-F50D-0C61-CFE6-FB699FB2EB12}"/>
                </a:ext>
              </a:extLst>
            </p:cNvPr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355429" y="1448929"/>
              <a:ext cx="2965400" cy="381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" name="Google Shape;102;p14">
              <a:extLst>
                <a:ext uri="{FF2B5EF4-FFF2-40B4-BE49-F238E27FC236}">
                  <a16:creationId xmlns:a16="http://schemas.microsoft.com/office/drawing/2014/main" id="{A9EFA4CB-493A-5059-DD73-9EF5A3531F49}"/>
                </a:ext>
              </a:extLst>
            </p:cNvPr>
            <p:cNvSpPr txBox="1"/>
            <p:nvPr/>
          </p:nvSpPr>
          <p:spPr>
            <a:xfrm>
              <a:off x="416849" y="1898163"/>
              <a:ext cx="3070630" cy="24929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dirty="0">
                  <a:solidFill>
                    <a:srgbClr val="F5F5F5"/>
                  </a:solidFill>
                  <a:latin typeface="+mn-lt"/>
                  <a:ea typeface="Urbanist"/>
                  <a:cs typeface="Urbanist"/>
                  <a:sym typeface="Urbanist"/>
                </a:rPr>
                <a:t>Business Case</a:t>
              </a:r>
              <a:r>
                <a:rPr lang="en-US" sz="1800" b="1" i="0" u="none" strike="noStrike" cap="none" dirty="0">
                  <a:solidFill>
                    <a:srgbClr val="F5F5F5"/>
                  </a:solidFill>
                  <a:latin typeface="+mn-lt"/>
                  <a:ea typeface="Urbanist"/>
                  <a:cs typeface="Urbanist"/>
                  <a:sym typeface="Urbanist"/>
                </a:rPr>
                <a:t>.</a:t>
              </a: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b="1" i="0" u="none" strike="noStrike" cap="none" dirty="0">
                <a:solidFill>
                  <a:srgbClr val="F5F5F5"/>
                </a:solidFill>
                <a:latin typeface="+mn-lt"/>
                <a:ea typeface="Urbanist"/>
                <a:cs typeface="Urbanist"/>
                <a:sym typeface="Urbanist"/>
              </a:endParaRPr>
            </a:p>
            <a:p>
              <a:pPr marL="285750" marR="0" lvl="0" indent="-285750" algn="l" rtl="0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US" b="1" dirty="0">
                  <a:solidFill>
                    <a:srgbClr val="F5F5F5"/>
                  </a:solidFill>
                  <a:latin typeface="+mn-lt"/>
                  <a:ea typeface="Urbanist"/>
                  <a:cs typeface="Urbanist"/>
                  <a:sym typeface="Urbanist"/>
                </a:rPr>
                <a:t>Syriatel experiencing customer exits affecting revenue. </a:t>
              </a:r>
            </a:p>
            <a:p>
              <a:pPr marL="285750" marR="0" lvl="0" indent="-285750" algn="l" rtl="0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endParaRPr lang="en-US" b="1" dirty="0">
                <a:solidFill>
                  <a:srgbClr val="F5F5F5"/>
                </a:solidFill>
                <a:latin typeface="+mn-lt"/>
                <a:ea typeface="Urbanist"/>
                <a:cs typeface="Urbanist"/>
                <a:sym typeface="Urbanist"/>
              </a:endParaRPr>
            </a:p>
            <a:p>
              <a:pPr marL="285750" marR="0" lvl="0" indent="-285750" algn="l" rtl="0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US" b="1" dirty="0">
                  <a:solidFill>
                    <a:srgbClr val="F5F5F5"/>
                  </a:solidFill>
                  <a:latin typeface="+mn-lt"/>
                  <a:ea typeface="Urbanist"/>
                  <a:cs typeface="Urbanist"/>
                  <a:sym typeface="Urbanist"/>
                </a:rPr>
                <a:t>Exits are silent and reflect overtime. </a:t>
              </a:r>
            </a:p>
            <a:p>
              <a:pPr marL="285750" marR="0" lvl="0" indent="-285750" algn="l" rtl="0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endParaRPr lang="en-US" b="1" dirty="0">
                <a:solidFill>
                  <a:srgbClr val="F5F5F5"/>
                </a:solidFill>
                <a:latin typeface="+mn-lt"/>
                <a:ea typeface="Urbanist"/>
                <a:cs typeface="Urbanist"/>
                <a:sym typeface="Urbanist"/>
              </a:endParaRPr>
            </a:p>
            <a:p>
              <a:pPr marL="285750" marR="0" lvl="0" indent="-285750" algn="l" rtl="0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US" b="1" dirty="0">
                  <a:solidFill>
                    <a:srgbClr val="F5F5F5"/>
                  </a:solidFill>
                  <a:latin typeface="+mn-lt"/>
                  <a:ea typeface="Urbanist"/>
                  <a:cs typeface="Urbanist"/>
                  <a:sym typeface="Urbanist"/>
                </a:rPr>
                <a:t>Solve the problem by data driven solution before exits happen</a:t>
              </a:r>
              <a:endParaRPr b="1" dirty="0">
                <a:latin typeface="+mn-lt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F57D320-CBCE-231A-DB4F-55B5B7490200}"/>
              </a:ext>
            </a:extLst>
          </p:cNvPr>
          <p:cNvGrpSpPr/>
          <p:nvPr/>
        </p:nvGrpSpPr>
        <p:grpSpPr>
          <a:xfrm>
            <a:off x="7917403" y="1367879"/>
            <a:ext cx="3512598" cy="2967999"/>
            <a:chOff x="7917403" y="1367879"/>
            <a:chExt cx="3512598" cy="2967999"/>
          </a:xfrm>
        </p:grpSpPr>
        <p:pic>
          <p:nvPicPr>
            <p:cNvPr id="95" name="Google Shape;95;p14" descr="image.png">
              <a:extLst>
                <a:ext uri="{FF2B5EF4-FFF2-40B4-BE49-F238E27FC236}">
                  <a16:creationId xmlns:a16="http://schemas.microsoft.com/office/drawing/2014/main" id="{B4264D2E-3E15-B377-E60A-AF23FC2FC454}"/>
                </a:ext>
              </a:extLst>
            </p:cNvPr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7917403" y="1367879"/>
              <a:ext cx="3512598" cy="29679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" name="Google Shape;104;p14" descr="image.png">
              <a:extLst>
                <a:ext uri="{FF2B5EF4-FFF2-40B4-BE49-F238E27FC236}">
                  <a16:creationId xmlns:a16="http://schemas.microsoft.com/office/drawing/2014/main" id="{CD900D8A-97D2-8157-BF02-399ABA5DF606}"/>
                </a:ext>
              </a:extLst>
            </p:cNvPr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8083304" y="1512458"/>
              <a:ext cx="2965549" cy="381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" name="Google Shape;105;p14">
              <a:extLst>
                <a:ext uri="{FF2B5EF4-FFF2-40B4-BE49-F238E27FC236}">
                  <a16:creationId xmlns:a16="http://schemas.microsoft.com/office/drawing/2014/main" id="{F1D58A24-9ED4-C6B8-05DA-094121608AA4}"/>
                </a:ext>
              </a:extLst>
            </p:cNvPr>
            <p:cNvSpPr txBox="1"/>
            <p:nvPr/>
          </p:nvSpPr>
          <p:spPr>
            <a:xfrm>
              <a:off x="8147350" y="1907644"/>
              <a:ext cx="3282649" cy="22775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dirty="0">
                  <a:solidFill>
                    <a:srgbClr val="F5F5F5"/>
                  </a:solidFill>
                  <a:latin typeface="+mn-lt"/>
                  <a:ea typeface="Urbanist"/>
                  <a:cs typeface="Urbanist"/>
                  <a:sym typeface="Urbanist"/>
                </a:rPr>
                <a:t>Key Objectives. </a:t>
              </a: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b="1" dirty="0">
                <a:solidFill>
                  <a:srgbClr val="F5F5F5"/>
                </a:solidFill>
                <a:latin typeface="+mn-lt"/>
                <a:ea typeface="Urbanist"/>
                <a:cs typeface="Urbanist"/>
                <a:sym typeface="Urbanist"/>
              </a:endParaRPr>
            </a:p>
            <a:p>
              <a:pPr marL="285750" marR="0" lvl="0" indent="-285750" algn="l" rtl="0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US" b="1" dirty="0">
                  <a:solidFill>
                    <a:srgbClr val="F5F5F5"/>
                  </a:solidFill>
                  <a:latin typeface="+mn-lt"/>
                  <a:ea typeface="Urbanist"/>
                  <a:cs typeface="Urbanist"/>
                  <a:sym typeface="Urbanist"/>
                </a:rPr>
                <a:t>Build a reliable model to predict exit.</a:t>
              </a:r>
            </a:p>
            <a:p>
              <a:pPr marL="285750" marR="0" lvl="0" indent="-285750" algn="l" rtl="0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endParaRPr lang="en-US" b="1" dirty="0">
                <a:solidFill>
                  <a:srgbClr val="F5F5F5"/>
                </a:solidFill>
                <a:latin typeface="+mn-lt"/>
                <a:ea typeface="Urbanist"/>
                <a:cs typeface="Urbanist"/>
                <a:sym typeface="Urbanist"/>
              </a:endParaRPr>
            </a:p>
            <a:p>
              <a:pPr marL="285750" marR="0" lvl="0" indent="-285750" algn="l" rtl="0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US" b="1" dirty="0">
                  <a:solidFill>
                    <a:srgbClr val="F5F5F5"/>
                  </a:solidFill>
                  <a:latin typeface="+mn-lt"/>
                  <a:ea typeface="Urbanist"/>
                  <a:cs typeface="Urbanist"/>
                  <a:sym typeface="Urbanist"/>
                </a:rPr>
                <a:t>Evaluate the model performance.</a:t>
              </a:r>
            </a:p>
            <a:p>
              <a:pPr marL="285750" marR="0" lvl="0" indent="-285750" algn="l" rtl="0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endParaRPr lang="en-US" b="1" dirty="0">
                <a:solidFill>
                  <a:srgbClr val="F5F5F5"/>
                </a:solidFill>
                <a:latin typeface="+mn-lt"/>
                <a:ea typeface="Urbanist"/>
                <a:cs typeface="Urbanist"/>
                <a:sym typeface="Urbanist"/>
              </a:endParaRPr>
            </a:p>
            <a:p>
              <a:pPr marL="285750" marR="0" lvl="0" indent="-285750" algn="l" rtl="0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US" b="1" dirty="0">
                  <a:solidFill>
                    <a:srgbClr val="F5F5F5"/>
                  </a:solidFill>
                  <a:latin typeface="+mn-lt"/>
                  <a:ea typeface="Urbanist"/>
                  <a:cs typeface="Urbanist"/>
                  <a:sym typeface="Urbanist"/>
                </a:rPr>
                <a:t>Identify key exit drivers </a:t>
              </a:r>
            </a:p>
            <a:p>
              <a:pPr marL="285750" marR="0" lvl="0" indent="-285750" algn="l" rtl="0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endParaRPr lang="en-US" b="1" dirty="0">
                <a:solidFill>
                  <a:srgbClr val="F5F5F5"/>
                </a:solidFill>
                <a:latin typeface="+mn-lt"/>
                <a:ea typeface="Urbanist"/>
                <a:cs typeface="Urbanist"/>
                <a:sym typeface="Urbanist"/>
              </a:endParaRPr>
            </a:p>
            <a:p>
              <a:pPr marL="285750" marR="0" lvl="0" indent="-285750" algn="l" rtl="0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US" b="1" dirty="0">
                  <a:solidFill>
                    <a:srgbClr val="F5F5F5"/>
                  </a:solidFill>
                  <a:latin typeface="+mn-lt"/>
                  <a:ea typeface="Urbanist"/>
                  <a:cs typeface="Urbanist"/>
                  <a:sym typeface="Urbanist"/>
                </a:rPr>
                <a:t>Propose Retention strategy</a:t>
              </a:r>
              <a:endParaRPr b="1" dirty="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29080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Shape 90">
          <a:extLst>
            <a:ext uri="{FF2B5EF4-FFF2-40B4-BE49-F238E27FC236}">
              <a16:creationId xmlns:a16="http://schemas.microsoft.com/office/drawing/2014/main" id="{57A54329-59F5-53D1-9B7F-30AD087B2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>
            <a:extLst>
              <a:ext uri="{FF2B5EF4-FFF2-40B4-BE49-F238E27FC236}">
                <a16:creationId xmlns:a16="http://schemas.microsoft.com/office/drawing/2014/main" id="{9366E5F2-B678-2BE0-3DB0-75FB4139B61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47054" y="2015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4" descr="image.png">
            <a:extLst>
              <a:ext uri="{FF2B5EF4-FFF2-40B4-BE49-F238E27FC236}">
                <a16:creationId xmlns:a16="http://schemas.microsoft.com/office/drawing/2014/main" id="{FA777AE5-6B21-FE29-9565-D5B0474E07B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811017"/>
            <a:ext cx="11049000" cy="62091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BCF74BD6-53E3-48AD-E970-CB66FF07952B}"/>
              </a:ext>
            </a:extLst>
          </p:cNvPr>
          <p:cNvSpPr txBox="1"/>
          <p:nvPr/>
        </p:nvSpPr>
        <p:spPr>
          <a:xfrm>
            <a:off x="571500" y="381000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5F5F5"/>
                </a:solidFill>
                <a:latin typeface="+mn-lt"/>
                <a:ea typeface="Urbanist"/>
                <a:cs typeface="Urbanist"/>
                <a:sym typeface="Urbanist"/>
              </a:rPr>
              <a:t>Load, Explore, Clean</a:t>
            </a:r>
            <a:endParaRPr dirty="0">
              <a:latin typeface="+mn-lt"/>
            </a:endParaRPr>
          </a:p>
        </p:txBody>
      </p:sp>
      <p:sp>
        <p:nvSpPr>
          <p:cNvPr id="97" name="Google Shape;97;p14">
            <a:extLst>
              <a:ext uri="{FF2B5EF4-FFF2-40B4-BE49-F238E27FC236}">
                <a16:creationId xmlns:a16="http://schemas.microsoft.com/office/drawing/2014/main" id="{6C6820C3-5B13-0C6A-F9C5-41DA42AED845}"/>
              </a:ext>
            </a:extLst>
          </p:cNvPr>
          <p:cNvSpPr txBox="1"/>
          <p:nvPr/>
        </p:nvSpPr>
        <p:spPr>
          <a:xfrm>
            <a:off x="800100" y="5001517"/>
            <a:ext cx="10629900" cy="290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i="1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Analyze what you know!  </a:t>
            </a:r>
            <a:endParaRPr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3AA45B6-8A29-F021-E9AF-D1E6257561AA}"/>
              </a:ext>
            </a:extLst>
          </p:cNvPr>
          <p:cNvGrpSpPr/>
          <p:nvPr/>
        </p:nvGrpSpPr>
        <p:grpSpPr>
          <a:xfrm>
            <a:off x="3936657" y="1313983"/>
            <a:ext cx="3765499" cy="2979808"/>
            <a:chOff x="4127601" y="1313983"/>
            <a:chExt cx="3765499" cy="2979808"/>
          </a:xfrm>
        </p:grpSpPr>
        <p:pic>
          <p:nvPicPr>
            <p:cNvPr id="93" name="Google Shape;93;p14" descr="image.png">
              <a:extLst>
                <a:ext uri="{FF2B5EF4-FFF2-40B4-BE49-F238E27FC236}">
                  <a16:creationId xmlns:a16="http://schemas.microsoft.com/office/drawing/2014/main" id="{0540A25F-B8AF-07AB-35C8-5BDFDE3E3522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127601" y="1313983"/>
              <a:ext cx="3765499" cy="296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8" name="Google Shape;98;p14" descr="image.png">
              <a:extLst>
                <a:ext uri="{FF2B5EF4-FFF2-40B4-BE49-F238E27FC236}">
                  <a16:creationId xmlns:a16="http://schemas.microsoft.com/office/drawing/2014/main" id="{7867F842-3BB5-C72C-87C9-31B7F913BAD6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315874" y="1467089"/>
              <a:ext cx="2965400" cy="381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" name="Google Shape;99;p14">
              <a:extLst>
                <a:ext uri="{FF2B5EF4-FFF2-40B4-BE49-F238E27FC236}">
                  <a16:creationId xmlns:a16="http://schemas.microsoft.com/office/drawing/2014/main" id="{930B99BD-E509-0330-AA30-AD0F2D33F23D}"/>
                </a:ext>
              </a:extLst>
            </p:cNvPr>
            <p:cNvSpPr txBox="1"/>
            <p:nvPr/>
          </p:nvSpPr>
          <p:spPr>
            <a:xfrm>
              <a:off x="4453515" y="1905445"/>
              <a:ext cx="3113670" cy="23883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dirty="0">
                  <a:solidFill>
                    <a:srgbClr val="F5F5F5"/>
                  </a:solidFill>
                  <a:latin typeface="+mn-lt"/>
                  <a:ea typeface="Urbanist"/>
                  <a:cs typeface="Urbanist"/>
                  <a:sym typeface="Urbanist"/>
                </a:rPr>
                <a:t>Explore</a:t>
              </a:r>
              <a:endParaRPr lang="en-US" sz="1800" b="1" i="0" u="none" strike="noStrike" cap="none" dirty="0">
                <a:solidFill>
                  <a:srgbClr val="F5F5F5"/>
                </a:solidFill>
                <a:latin typeface="+mn-lt"/>
                <a:ea typeface="Urbanist"/>
                <a:cs typeface="Urbanist"/>
                <a:sym typeface="Urbanist"/>
              </a:endParaRPr>
            </a:p>
            <a:p>
              <a:pPr marL="285750" marR="0" lvl="0" indent="-285750" algn="l" rtl="0">
                <a:lnSpc>
                  <a:spcPct val="139925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/>
                  </a:solidFill>
                  <a:latin typeface="+mn-lt"/>
                  <a:ea typeface="Urbanist"/>
                  <a:cs typeface="Urbanist"/>
                  <a:sym typeface="Urbanist"/>
                </a:rPr>
                <a:t>The data had 3,333 rows and 21 columns</a:t>
              </a:r>
              <a:r>
                <a:rPr lang="en-US" b="0" i="0" u="none" strike="noStrike" cap="none" dirty="0">
                  <a:solidFill>
                    <a:schemeClr val="bg1"/>
                  </a:solidFill>
                  <a:latin typeface="+mn-lt"/>
                  <a:ea typeface="Urbanist"/>
                  <a:cs typeface="Urbanist"/>
                  <a:sym typeface="Urbanist"/>
                </a:rPr>
                <a:t>.</a:t>
              </a:r>
            </a:p>
            <a:p>
              <a:pPr marL="285750" marR="0" lvl="0" indent="-285750" algn="l" rtl="0">
                <a:lnSpc>
                  <a:spcPct val="139925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endParaRPr lang="en-US" b="0" i="0" u="none" strike="noStrike" cap="none" dirty="0">
                <a:solidFill>
                  <a:schemeClr val="bg1"/>
                </a:solidFill>
                <a:latin typeface="+mn-lt"/>
                <a:ea typeface="Urbanist"/>
                <a:cs typeface="Urbanist"/>
                <a:sym typeface="Urbanist"/>
              </a:endParaRPr>
            </a:p>
            <a:p>
              <a:pPr marL="285750" marR="0" lvl="0" indent="-285750" algn="l" rtl="0">
                <a:lnSpc>
                  <a:spcPct val="139925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/>
                  </a:solidFill>
                  <a:latin typeface="+mn-lt"/>
                  <a:ea typeface="Urbanist"/>
                  <a:cs typeface="Urbanist"/>
                  <a:sym typeface="Urbanist"/>
                </a:rPr>
                <a:t>Data had float, </a:t>
              </a:r>
              <a:r>
                <a:rPr lang="en-US" dirty="0" err="1">
                  <a:solidFill>
                    <a:schemeClr val="bg1"/>
                  </a:solidFill>
                  <a:latin typeface="+mn-lt"/>
                  <a:ea typeface="Urbanist"/>
                  <a:cs typeface="Urbanist"/>
                  <a:sym typeface="Urbanist"/>
                </a:rPr>
                <a:t>Bolean</a:t>
              </a:r>
              <a:r>
                <a:rPr lang="en-US" dirty="0">
                  <a:solidFill>
                    <a:schemeClr val="bg1"/>
                  </a:solidFill>
                  <a:latin typeface="+mn-lt"/>
                  <a:ea typeface="Urbanist"/>
                  <a:cs typeface="Urbanist"/>
                  <a:sym typeface="Urbanist"/>
                </a:rPr>
                <a:t>, float and integers . </a:t>
              </a:r>
            </a:p>
            <a:p>
              <a:pPr marL="285750" marR="0" lvl="0" indent="-285750" algn="l" rtl="0">
                <a:lnSpc>
                  <a:spcPct val="139925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endParaRPr lang="en-US" dirty="0">
                <a:solidFill>
                  <a:schemeClr val="bg1"/>
                </a:solidFill>
                <a:latin typeface="+mn-lt"/>
                <a:ea typeface="Urbanist"/>
                <a:cs typeface="Urbanist"/>
                <a:sym typeface="Urbanist"/>
              </a:endParaRPr>
            </a:p>
            <a:p>
              <a:pPr marL="285750" marR="0" lvl="0" indent="-285750" algn="l" rtl="0">
                <a:lnSpc>
                  <a:spcPct val="139925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/>
                  </a:solidFill>
                  <a:latin typeface="+mn-lt"/>
                  <a:ea typeface="Urbanist"/>
                  <a:cs typeface="Urbanist"/>
                  <a:sym typeface="Urbanist"/>
                </a:rPr>
                <a:t>No duplicates and missing data</a:t>
              </a:r>
              <a:endParaRPr lang="en-US" dirty="0">
                <a:solidFill>
                  <a:schemeClr val="bg1"/>
                </a:solidFill>
                <a:latin typeface="+mn-lt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DAE8EFBA-86DE-EC42-2BB3-74B3728BE8AF}"/>
              </a:ext>
            </a:extLst>
          </p:cNvPr>
          <p:cNvGrpSpPr/>
          <p:nvPr/>
        </p:nvGrpSpPr>
        <p:grpSpPr>
          <a:xfrm>
            <a:off x="221476" y="1307548"/>
            <a:ext cx="3451175" cy="3070123"/>
            <a:chOff x="221476" y="1307548"/>
            <a:chExt cx="3451175" cy="3070123"/>
          </a:xfrm>
        </p:grpSpPr>
        <p:pic>
          <p:nvPicPr>
            <p:cNvPr id="94" name="Google Shape;94;p14" descr="image.png">
              <a:extLst>
                <a:ext uri="{FF2B5EF4-FFF2-40B4-BE49-F238E27FC236}">
                  <a16:creationId xmlns:a16="http://schemas.microsoft.com/office/drawing/2014/main" id="{10765150-73FB-B6C7-B6EB-879A44A10FC2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221476" y="1307548"/>
              <a:ext cx="3451175" cy="307012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" name="Google Shape;101;p14" descr="image.png">
              <a:extLst>
                <a:ext uri="{FF2B5EF4-FFF2-40B4-BE49-F238E27FC236}">
                  <a16:creationId xmlns:a16="http://schemas.microsoft.com/office/drawing/2014/main" id="{9073EA08-586C-AAF4-3A78-6F018932E6AB}"/>
                </a:ext>
              </a:extLst>
            </p:cNvPr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355429" y="1448929"/>
              <a:ext cx="2965400" cy="381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" name="Google Shape;102;p14">
              <a:extLst>
                <a:ext uri="{FF2B5EF4-FFF2-40B4-BE49-F238E27FC236}">
                  <a16:creationId xmlns:a16="http://schemas.microsoft.com/office/drawing/2014/main" id="{21DDC993-4BD1-6176-D122-50B96D724471}"/>
                </a:ext>
              </a:extLst>
            </p:cNvPr>
            <p:cNvSpPr txBox="1"/>
            <p:nvPr/>
          </p:nvSpPr>
          <p:spPr>
            <a:xfrm>
              <a:off x="416849" y="1898163"/>
              <a:ext cx="3070630" cy="20621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i="0" u="none" strike="noStrike" cap="none" dirty="0">
                  <a:solidFill>
                    <a:srgbClr val="F5F5F5"/>
                  </a:solidFill>
                  <a:latin typeface="+mn-lt"/>
                  <a:ea typeface="Urbanist"/>
                  <a:cs typeface="Urbanist"/>
                  <a:sym typeface="Urbanist"/>
                </a:rPr>
                <a:t>Load.</a:t>
              </a: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b="1" i="0" u="none" strike="noStrike" cap="none" dirty="0">
                <a:solidFill>
                  <a:srgbClr val="F5F5F5"/>
                </a:solidFill>
                <a:latin typeface="+mn-lt"/>
                <a:ea typeface="Urbanist"/>
                <a:cs typeface="Urbanist"/>
                <a:sym typeface="Urbanist"/>
              </a:endParaRPr>
            </a:p>
            <a:p>
              <a:pPr marL="285750" marR="0" lvl="0" indent="-285750" algn="l" rtl="0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F5F5F5"/>
                  </a:solidFill>
                  <a:latin typeface="+mn-lt"/>
                  <a:ea typeface="Urbanist"/>
                  <a:cs typeface="Urbanist"/>
                  <a:sym typeface="Urbanist"/>
                </a:rPr>
                <a:t>Necessary libraries were loaded . </a:t>
              </a:r>
            </a:p>
            <a:p>
              <a:pPr marL="285750" marR="0" lvl="0" indent="-285750" algn="l" rtl="0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endParaRPr lang="en-US" dirty="0">
                <a:solidFill>
                  <a:srgbClr val="F5F5F5"/>
                </a:solidFill>
                <a:latin typeface="+mn-lt"/>
                <a:ea typeface="Urbanist"/>
                <a:cs typeface="Urbanist"/>
                <a:sym typeface="Urbanist"/>
              </a:endParaRPr>
            </a:p>
            <a:p>
              <a:pPr marL="285750" marR="0" lvl="0" indent="-285750" algn="l" rtl="0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F5F5F5"/>
                  </a:solidFill>
                  <a:latin typeface="+mn-lt"/>
                  <a:ea typeface="Urbanist"/>
                  <a:cs typeface="Urbanist"/>
                  <a:sym typeface="Urbanist"/>
                </a:rPr>
                <a:t>The dataset “</a:t>
              </a:r>
              <a:r>
                <a:rPr lang="en-US" dirty="0" err="1">
                  <a:solidFill>
                    <a:srgbClr val="F5F5F5"/>
                  </a:solidFill>
                  <a:latin typeface="+mn-lt"/>
                  <a:ea typeface="Urbanist"/>
                  <a:cs typeface="Urbanist"/>
                  <a:sym typeface="Urbanist"/>
                </a:rPr>
                <a:t>syria_tel.csv</a:t>
              </a:r>
              <a:r>
                <a:rPr lang="en-US" dirty="0">
                  <a:solidFill>
                    <a:srgbClr val="F5F5F5"/>
                  </a:solidFill>
                  <a:latin typeface="+mn-lt"/>
                  <a:ea typeface="Urbanist"/>
                  <a:cs typeface="Urbanist"/>
                  <a:sym typeface="Urbanist"/>
                </a:rPr>
                <a:t>” was used for the analysis</a:t>
              </a:r>
            </a:p>
            <a:p>
              <a:pPr marL="285750" marR="0" lvl="0" indent="-285750" algn="l" rtl="0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endParaRPr lang="en-US" dirty="0">
                <a:solidFill>
                  <a:srgbClr val="F5F5F5"/>
                </a:solidFill>
                <a:latin typeface="+mn-lt"/>
                <a:ea typeface="Urbanist"/>
                <a:cs typeface="Urbanist"/>
                <a:sym typeface="Urbanist"/>
              </a:endParaRPr>
            </a:p>
            <a:p>
              <a:pPr marL="285750" marR="0" lvl="0" indent="-285750" algn="l" rtl="0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F5F5F5"/>
                  </a:solidFill>
                  <a:latin typeface="+mn-lt"/>
                  <a:ea typeface="Urbanist"/>
                  <a:cs typeface="Urbanist"/>
                  <a:sym typeface="Urbanist"/>
                </a:rPr>
                <a:t>Python Language on </a:t>
              </a:r>
              <a:r>
                <a:rPr lang="en-US" dirty="0" err="1">
                  <a:solidFill>
                    <a:srgbClr val="F5F5F5"/>
                  </a:solidFill>
                  <a:latin typeface="+mn-lt"/>
                  <a:ea typeface="Urbanist"/>
                  <a:cs typeface="Urbanist"/>
                  <a:sym typeface="Urbanist"/>
                </a:rPr>
                <a:t>Jupyter</a:t>
              </a:r>
              <a:r>
                <a:rPr lang="en-US" dirty="0">
                  <a:solidFill>
                    <a:srgbClr val="F5F5F5"/>
                  </a:solidFill>
                  <a:latin typeface="+mn-lt"/>
                  <a:ea typeface="Urbanist"/>
                  <a:cs typeface="Urbanist"/>
                  <a:sym typeface="Urbanist"/>
                </a:rPr>
                <a:t> Notebook platform.</a:t>
              </a:r>
              <a:endParaRPr dirty="0">
                <a:latin typeface="+mn-lt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F0115CEE-0C80-1DC9-E48C-D348EC10BD04}"/>
              </a:ext>
            </a:extLst>
          </p:cNvPr>
          <p:cNvGrpSpPr/>
          <p:nvPr/>
        </p:nvGrpSpPr>
        <p:grpSpPr>
          <a:xfrm>
            <a:off x="7917403" y="1367879"/>
            <a:ext cx="3512598" cy="2971200"/>
            <a:chOff x="7917403" y="1367879"/>
            <a:chExt cx="3512598" cy="2971200"/>
          </a:xfrm>
        </p:grpSpPr>
        <p:pic>
          <p:nvPicPr>
            <p:cNvPr id="95" name="Google Shape;95;p14" descr="image.png">
              <a:extLst>
                <a:ext uri="{FF2B5EF4-FFF2-40B4-BE49-F238E27FC236}">
                  <a16:creationId xmlns:a16="http://schemas.microsoft.com/office/drawing/2014/main" id="{44B37891-AD44-D47D-72E5-857AB5F6C83B}"/>
                </a:ext>
              </a:extLst>
            </p:cNvPr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7917403" y="1367879"/>
              <a:ext cx="3512598" cy="29679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" name="Google Shape;104;p14" descr="image.png">
              <a:extLst>
                <a:ext uri="{FF2B5EF4-FFF2-40B4-BE49-F238E27FC236}">
                  <a16:creationId xmlns:a16="http://schemas.microsoft.com/office/drawing/2014/main" id="{FADD544B-20DE-DEB5-C50C-8E57F2AC4546}"/>
                </a:ext>
              </a:extLst>
            </p:cNvPr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8083304" y="1512458"/>
              <a:ext cx="2965549" cy="381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" name="Google Shape;105;p14">
              <a:extLst>
                <a:ext uri="{FF2B5EF4-FFF2-40B4-BE49-F238E27FC236}">
                  <a16:creationId xmlns:a16="http://schemas.microsoft.com/office/drawing/2014/main" id="{FEF145BD-F392-E07F-6C3A-99C07BFA0477}"/>
                </a:ext>
              </a:extLst>
            </p:cNvPr>
            <p:cNvSpPr txBox="1"/>
            <p:nvPr/>
          </p:nvSpPr>
          <p:spPr>
            <a:xfrm>
              <a:off x="8147350" y="1907644"/>
              <a:ext cx="3282649" cy="24314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dirty="0">
                  <a:solidFill>
                    <a:srgbClr val="F5F5F5"/>
                  </a:solidFill>
                  <a:latin typeface="+mn-lt"/>
                  <a:ea typeface="Urbanist"/>
                  <a:cs typeface="Urbanist"/>
                  <a:sym typeface="Urbanist"/>
                </a:rPr>
                <a:t>Clean. </a:t>
              </a:r>
            </a:p>
            <a:p>
              <a:pPr marL="285750" marR="0" lvl="0" indent="-285750" algn="l" rtl="0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F5F5F5"/>
                  </a:solidFill>
                  <a:latin typeface="+mn-lt"/>
                  <a:ea typeface="Urbanist"/>
                  <a:cs typeface="Urbanist"/>
                  <a:sym typeface="Urbanist"/>
                </a:rPr>
                <a:t>Dropping redundant columns</a:t>
              </a:r>
            </a:p>
            <a:p>
              <a:pPr marL="285750" marR="0" lvl="0" indent="-285750" algn="l" rtl="0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endParaRPr lang="en-US" dirty="0">
                <a:solidFill>
                  <a:srgbClr val="F5F5F5"/>
                </a:solidFill>
                <a:latin typeface="+mn-lt"/>
                <a:ea typeface="Urbanist"/>
                <a:cs typeface="Urbanist"/>
                <a:sym typeface="Urbanist"/>
              </a:endParaRPr>
            </a:p>
            <a:p>
              <a:pPr marL="285750" marR="0" lvl="0" indent="-285750" algn="l" rtl="0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F5F5F5"/>
                  </a:solidFill>
                  <a:latin typeface="+mn-lt"/>
                  <a:ea typeface="Urbanist"/>
                  <a:cs typeface="Urbanist"/>
                  <a:sym typeface="Urbanist"/>
                </a:rPr>
                <a:t>Converting into customer usage patterns and rations</a:t>
              </a:r>
            </a:p>
            <a:p>
              <a:pPr marL="285750" marR="0" lvl="0" indent="-285750" algn="l" rtl="0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endParaRPr lang="en-US" dirty="0">
                <a:solidFill>
                  <a:srgbClr val="F5F5F5"/>
                </a:solidFill>
                <a:latin typeface="+mn-lt"/>
                <a:ea typeface="Urbanist"/>
                <a:cs typeface="Urbanist"/>
                <a:sym typeface="Urbanist"/>
              </a:endParaRPr>
            </a:p>
            <a:p>
              <a:pPr marL="285750" marR="0" lvl="0" indent="-285750" algn="l" rtl="0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F5F5F5"/>
                  </a:solidFill>
                  <a:latin typeface="+mn-lt"/>
                  <a:ea typeface="Urbanist"/>
                  <a:cs typeface="Urbanist"/>
                  <a:sym typeface="Urbanist"/>
                </a:rPr>
                <a:t>Adding missing columns.</a:t>
              </a:r>
            </a:p>
            <a:p>
              <a:pPr marL="285750" marR="0" lvl="0" indent="-285750" algn="l" rtl="0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endParaRPr lang="en-US" dirty="0">
                <a:solidFill>
                  <a:srgbClr val="F5F5F5"/>
                </a:solidFill>
                <a:latin typeface="+mn-lt"/>
                <a:ea typeface="Urbanist"/>
                <a:cs typeface="Urbanist"/>
                <a:sym typeface="Urbanist"/>
              </a:endParaRPr>
            </a:p>
            <a:p>
              <a:pPr marL="285750" marR="0" lvl="0" indent="-285750" algn="l" rtl="0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F5F5F5"/>
                  </a:solidFill>
                  <a:latin typeface="+mn-lt"/>
                  <a:ea typeface="Urbanist"/>
                  <a:cs typeface="Urbanist"/>
                  <a:sym typeface="Urbanist"/>
                </a:rPr>
                <a:t>Creating column to check customer </a:t>
              </a:r>
              <a:r>
                <a:rPr lang="en-US" dirty="0" err="1">
                  <a:solidFill>
                    <a:srgbClr val="F5F5F5"/>
                  </a:solidFill>
                  <a:latin typeface="+mn-lt"/>
                  <a:ea typeface="Urbanist"/>
                  <a:cs typeface="Urbanist"/>
                  <a:sym typeface="Urbanist"/>
                </a:rPr>
                <a:t>behaviour</a:t>
              </a:r>
              <a:endParaRPr lang="en-US" dirty="0">
                <a:solidFill>
                  <a:srgbClr val="F5F5F5"/>
                </a:solidFill>
                <a:latin typeface="+mn-lt"/>
                <a:ea typeface="Urbanist"/>
                <a:cs typeface="Urbanist"/>
                <a:sym typeface="Urbanist"/>
              </a:endParaRPr>
            </a:p>
            <a:p>
              <a:pPr marR="0" lvl="0" algn="l" rtl="0">
                <a:spcBef>
                  <a:spcPts val="0"/>
                </a:spcBef>
                <a:spcAft>
                  <a:spcPts val="0"/>
                </a:spcAft>
              </a:pPr>
              <a:endParaRPr lang="en-US" dirty="0">
                <a:solidFill>
                  <a:srgbClr val="F5F5F5"/>
                </a:solidFill>
                <a:latin typeface="+mn-lt"/>
                <a:ea typeface="Urbanist"/>
                <a:cs typeface="Urbanist"/>
                <a:sym typeface="Urbanis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829964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DB5E8E-8EEA-22CD-8FF6-D438C8C45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Magnifying Glass on Financial Charts, Orange Bar Graph on Blue Background  Stock Illustration - Illustration of circuit, investment: 371473851">
            <a:extLst>
              <a:ext uri="{FF2B5EF4-FFF2-40B4-BE49-F238E27FC236}">
                <a16:creationId xmlns:a16="http://schemas.microsoft.com/office/drawing/2014/main" id="{74D26E8C-E902-C73C-121A-BD4442A407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12192000" cy="676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15566E7-BAA0-617A-1920-42F573877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5418" y="2568288"/>
            <a:ext cx="7772400" cy="1072572"/>
          </a:xfrm>
          <a:noFill/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latin typeface="+mn-lt"/>
              </a:rPr>
              <a:t>Data Exploration </a:t>
            </a:r>
          </a:p>
        </p:txBody>
      </p:sp>
    </p:spTree>
    <p:extLst>
      <p:ext uri="{BB962C8B-B14F-4D97-AF65-F5344CB8AC3E}">
        <p14:creationId xmlns:p14="http://schemas.microsoft.com/office/powerpoint/2010/main" val="31070484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157273" y="218798"/>
            <a:ext cx="6838949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F5F5F5"/>
                </a:solidFill>
                <a:latin typeface="+mn-lt"/>
                <a:ea typeface="Urbanist"/>
                <a:cs typeface="Urbanist"/>
                <a:sym typeface="Urbanist"/>
              </a:rPr>
              <a:t>Data Imbalance </a:t>
            </a:r>
            <a:endParaRPr sz="3200" dirty="0">
              <a:latin typeface="+mn-lt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571500" y="1581150"/>
            <a:ext cx="4953000" cy="2880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bg1"/>
                </a:solidFill>
                <a:latin typeface="+mn-lt"/>
              </a:rPr>
              <a:t>S</a:t>
            </a:r>
            <a:r>
              <a:rPr lang="en-US" sz="1800" b="0" i="0" dirty="0">
                <a:solidFill>
                  <a:schemeClr val="bg1"/>
                </a:solidFill>
                <a:effectLst/>
                <a:latin typeface="+mn-lt"/>
              </a:rPr>
              <a:t>ignificantly imbalanced with 85.5% non-exits and 14.5% exits.</a:t>
            </a:r>
          </a:p>
          <a:p>
            <a:pPr marL="285750" indent="-285750" algn="l">
              <a:buFont typeface="Courier New" panose="02070309020205020404" pitchFamily="49" charset="0"/>
              <a:buChar char="o"/>
            </a:pPr>
            <a:endParaRPr lang="en-US" sz="1800" b="0" i="0" dirty="0">
              <a:solidFill>
                <a:schemeClr val="bg1"/>
              </a:solidFill>
              <a:effectLst/>
              <a:latin typeface="+mn-lt"/>
            </a:endParaRP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bg1"/>
                </a:solidFill>
                <a:latin typeface="+mn-lt"/>
              </a:rPr>
              <a:t>Creates</a:t>
            </a:r>
            <a:r>
              <a:rPr lang="en-US" sz="1800" b="0" i="0" dirty="0">
                <a:solidFill>
                  <a:schemeClr val="bg1"/>
                </a:solidFill>
                <a:effectLst/>
                <a:latin typeface="+mn-lt"/>
              </a:rPr>
              <a:t> bias </a:t>
            </a:r>
            <a:r>
              <a:rPr lang="en-US" sz="1800" dirty="0">
                <a:solidFill>
                  <a:schemeClr val="bg1"/>
                </a:solidFill>
                <a:latin typeface="+mn-lt"/>
              </a:rPr>
              <a:t>in prediction </a:t>
            </a:r>
            <a:r>
              <a:rPr lang="en-US" sz="1800" b="0" i="0" dirty="0">
                <a:solidFill>
                  <a:schemeClr val="bg1"/>
                </a:solidFill>
                <a:effectLst/>
                <a:latin typeface="+mn-lt"/>
              </a:rPr>
              <a:t>models towards majority  class(stays) affecting detection of actual exits.</a:t>
            </a:r>
          </a:p>
          <a:p>
            <a:pPr marL="285750" indent="-285750" algn="l">
              <a:buFont typeface="Courier New" panose="02070309020205020404" pitchFamily="49" charset="0"/>
              <a:buChar char="o"/>
            </a:pPr>
            <a:endParaRPr lang="en-US" sz="1800" b="0" i="0" dirty="0">
              <a:solidFill>
                <a:schemeClr val="bg1"/>
              </a:solidFill>
              <a:effectLst/>
              <a:latin typeface="+mn-lt"/>
            </a:endParaRP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bg1"/>
                </a:solidFill>
                <a:latin typeface="+mn-lt"/>
              </a:rPr>
              <a:t>F</a:t>
            </a:r>
            <a:r>
              <a:rPr lang="en-US" sz="1800" b="0" i="0" dirty="0">
                <a:solidFill>
                  <a:schemeClr val="bg1"/>
                </a:solidFill>
                <a:effectLst/>
                <a:latin typeface="+mn-lt"/>
              </a:rPr>
              <a:t>ix this with recall and F1-score rather than focusing on accuracy.</a:t>
            </a:r>
          </a:p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571500" y="2586632"/>
            <a:ext cx="381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FAD3D1C-1A57-02CE-31DE-6DC322428E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8542" y="1341641"/>
            <a:ext cx="6336205" cy="4839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DD753-E41E-9408-F810-015EE81C9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3162"/>
            <a:ext cx="3519377" cy="1180215"/>
          </a:xfrm>
        </p:spPr>
        <p:txBody>
          <a:bodyPr>
            <a:normAutofit/>
          </a:bodyPr>
          <a:lstStyle/>
          <a:p>
            <a:pPr algn="l"/>
            <a:r>
              <a:rPr lang="en-US" sz="3000" b="1" dirty="0">
                <a:solidFill>
                  <a:schemeClr val="bg1"/>
                </a:solidFill>
                <a:latin typeface="+mn-lt"/>
              </a:rPr>
              <a:t>Checking Outliers 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BBF6168-41C3-EBC1-3F41-FB3FACE690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5687" y="0"/>
            <a:ext cx="85963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9F42F42F-E538-27AC-B50D-5C2D9E9F1463}"/>
              </a:ext>
            </a:extLst>
          </p:cNvPr>
          <p:cNvSpPr txBox="1">
            <a:spLocks/>
          </p:cNvSpPr>
          <p:nvPr/>
        </p:nvSpPr>
        <p:spPr>
          <a:xfrm>
            <a:off x="125012" y="1136073"/>
            <a:ext cx="3394365" cy="4281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chemeClr val="bg1"/>
                </a:solidFill>
                <a:effectLst/>
                <a:latin typeface="+mn-lt"/>
              </a:rPr>
              <a:t>Customer service calls is rightly skewed, with an outlier of 9 calls.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800" b="0" i="0" dirty="0">
              <a:solidFill>
                <a:schemeClr val="bg1"/>
              </a:solidFill>
              <a:effectLst/>
              <a:latin typeface="+mn-lt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chemeClr val="bg1"/>
                </a:solidFill>
                <a:effectLst/>
                <a:latin typeface="+mn-lt"/>
              </a:rPr>
              <a:t>20 international calls, high value customer.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chemeClr val="bg1"/>
                </a:solidFill>
                <a:effectLst/>
                <a:latin typeface="+mn-lt"/>
              </a:rPr>
              <a:t>Account length = loyalty, legacy customers.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800" b="0" i="0" dirty="0">
              <a:solidFill>
                <a:schemeClr val="bg1"/>
              </a:solidFill>
              <a:effectLst/>
              <a:latin typeface="+mn-lt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chemeClr val="bg1"/>
                </a:solidFill>
                <a:effectLst/>
                <a:latin typeface="+mn-lt"/>
              </a:rPr>
              <a:t>Massive spike at </a:t>
            </a:r>
            <a:r>
              <a:rPr lang="en-US" sz="1800" b="0" i="0" dirty="0" err="1">
                <a:solidFill>
                  <a:schemeClr val="bg1"/>
                </a:solidFill>
                <a:effectLst/>
                <a:latin typeface="+mn-lt"/>
              </a:rPr>
              <a:t>vmail</a:t>
            </a:r>
            <a:r>
              <a:rPr lang="en-US" sz="1800" b="0" i="0" dirty="0">
                <a:solidFill>
                  <a:schemeClr val="bg1"/>
                </a:solidFill>
                <a:effectLst/>
                <a:latin typeface="+mn-lt"/>
              </a:rPr>
              <a:t> messages at zero.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bg1"/>
              </a:solidFill>
              <a:latin typeface="+mn-lt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+mn-lt"/>
              </a:rPr>
              <a:t>Many Outliers in day time minutes</a:t>
            </a:r>
            <a:endParaRPr lang="en-US" sz="1800" b="0" i="0" dirty="0">
              <a:solidFill>
                <a:schemeClr val="bg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487423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Shape 110">
          <a:extLst>
            <a:ext uri="{FF2B5EF4-FFF2-40B4-BE49-F238E27FC236}">
              <a16:creationId xmlns:a16="http://schemas.microsoft.com/office/drawing/2014/main" id="{93310F3B-B69A-2B57-1581-C6562EC87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5" descr="image.png">
            <a:extLst>
              <a:ext uri="{FF2B5EF4-FFF2-40B4-BE49-F238E27FC236}">
                <a16:creationId xmlns:a16="http://schemas.microsoft.com/office/drawing/2014/main" id="{20AE9499-7F19-C62A-AF45-086208BCE7E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1430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>
            <a:extLst>
              <a:ext uri="{FF2B5EF4-FFF2-40B4-BE49-F238E27FC236}">
                <a16:creationId xmlns:a16="http://schemas.microsoft.com/office/drawing/2014/main" id="{E16CB432-7A65-9F0F-F670-BDA8BF572D0B}"/>
              </a:ext>
            </a:extLst>
          </p:cNvPr>
          <p:cNvSpPr txBox="1"/>
          <p:nvPr/>
        </p:nvSpPr>
        <p:spPr>
          <a:xfrm>
            <a:off x="432954" y="244554"/>
            <a:ext cx="10747664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5F5F5"/>
                </a:solidFill>
                <a:latin typeface="+mn-lt"/>
                <a:ea typeface="Urbanist"/>
                <a:cs typeface="Urbanist"/>
                <a:sym typeface="Urbanist"/>
              </a:rPr>
              <a:t>Exit rate Vs Int. plan and Customer Service Calls</a:t>
            </a:r>
            <a:endParaRPr dirty="0">
              <a:latin typeface="+mn-lt"/>
            </a:endParaRPr>
          </a:p>
        </p:txBody>
      </p:sp>
      <p:sp>
        <p:nvSpPr>
          <p:cNvPr id="115" name="Google Shape;115;p15">
            <a:extLst>
              <a:ext uri="{FF2B5EF4-FFF2-40B4-BE49-F238E27FC236}">
                <a16:creationId xmlns:a16="http://schemas.microsoft.com/office/drawing/2014/main" id="{3A799537-1237-2A51-BF81-0D571CB526CF}"/>
              </a:ext>
            </a:extLst>
          </p:cNvPr>
          <p:cNvSpPr txBox="1"/>
          <p:nvPr/>
        </p:nvSpPr>
        <p:spPr>
          <a:xfrm>
            <a:off x="294407" y="5301115"/>
            <a:ext cx="5413665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bg1"/>
                </a:solidFill>
                <a:latin typeface="+mj-lt"/>
              </a:rPr>
              <a:t>M</a:t>
            </a:r>
            <a:r>
              <a:rPr lang="en-US" sz="1800" b="1" i="0" dirty="0">
                <a:solidFill>
                  <a:schemeClr val="bg1"/>
                </a:solidFill>
                <a:effectLst/>
                <a:latin typeface="+mj-lt"/>
              </a:rPr>
              <a:t>ajority do not have international plan.</a:t>
            </a:r>
          </a:p>
          <a:p>
            <a:pPr marL="285750" marR="0" lvl="0" indent="-28575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bg1"/>
                </a:solidFill>
                <a:latin typeface="+mj-lt"/>
              </a:rPr>
              <a:t>I</a:t>
            </a:r>
            <a:r>
              <a:rPr lang="en-US" sz="1800" b="1" i="0" dirty="0">
                <a:solidFill>
                  <a:schemeClr val="bg1"/>
                </a:solidFill>
                <a:effectLst/>
                <a:latin typeface="+mj-lt"/>
              </a:rPr>
              <a:t>nt. plan customer x4times likely to exit at 42%</a:t>
            </a:r>
            <a:endParaRPr sz="18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7" name="Google Shape;117;p15">
            <a:extLst>
              <a:ext uri="{FF2B5EF4-FFF2-40B4-BE49-F238E27FC236}">
                <a16:creationId xmlns:a16="http://schemas.microsoft.com/office/drawing/2014/main" id="{7BDFF046-B18C-862D-C369-0F0A73CCE652}"/>
              </a:ext>
            </a:extLst>
          </p:cNvPr>
          <p:cNvSpPr txBox="1"/>
          <p:nvPr/>
        </p:nvSpPr>
        <p:spPr>
          <a:xfrm>
            <a:off x="6873587" y="5301115"/>
            <a:ext cx="4722668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chemeClr val="bg1"/>
                </a:solidFill>
                <a:effectLst/>
                <a:latin typeface="+mn-lt"/>
              </a:rPr>
              <a:t>Customers </a:t>
            </a:r>
            <a:r>
              <a:rPr lang="en-US" sz="1800" b="1" dirty="0">
                <a:solidFill>
                  <a:schemeClr val="bg1"/>
                </a:solidFill>
                <a:latin typeface="+mn-lt"/>
              </a:rPr>
              <a:t>interactions </a:t>
            </a:r>
            <a:r>
              <a:rPr lang="en-US" sz="1800" b="1" i="0" dirty="0">
                <a:solidFill>
                  <a:schemeClr val="bg1"/>
                </a:solidFill>
                <a:effectLst/>
                <a:latin typeface="+mn-lt"/>
              </a:rPr>
              <a:t>corelated significantly with exit. </a:t>
            </a:r>
            <a:r>
              <a:rPr lang="en-US" sz="1800" b="1" dirty="0">
                <a:solidFill>
                  <a:schemeClr val="bg1"/>
                </a:solidFill>
                <a:latin typeface="+mn-lt"/>
              </a:rPr>
              <a:t>E</a:t>
            </a:r>
            <a:r>
              <a:rPr lang="en-US" sz="1800" b="1" i="0" dirty="0">
                <a:solidFill>
                  <a:schemeClr val="bg1"/>
                </a:solidFill>
                <a:effectLst/>
                <a:latin typeface="+mn-lt"/>
              </a:rPr>
              <a:t>arly warning signal?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8F8E3D5E-A3F6-6B2F-C3C7-3092BB8BA5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2262" y="928806"/>
            <a:ext cx="5615047" cy="4037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629206EC-2660-C438-7B53-5AA6F04EF3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57" y="928806"/>
            <a:ext cx="6086748" cy="4037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21192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Shape 110">
          <a:extLst>
            <a:ext uri="{FF2B5EF4-FFF2-40B4-BE49-F238E27FC236}">
              <a16:creationId xmlns:a16="http://schemas.microsoft.com/office/drawing/2014/main" id="{733B5EAB-3461-F9DE-573D-AA87C40CB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5" descr="image.png">
            <a:extLst>
              <a:ext uri="{FF2B5EF4-FFF2-40B4-BE49-F238E27FC236}">
                <a16:creationId xmlns:a16="http://schemas.microsoft.com/office/drawing/2014/main" id="{2FEE0FF2-403F-A96A-A2DC-24A1A8BFE50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1430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>
            <a:extLst>
              <a:ext uri="{FF2B5EF4-FFF2-40B4-BE49-F238E27FC236}">
                <a16:creationId xmlns:a16="http://schemas.microsoft.com/office/drawing/2014/main" id="{AB297BD9-5BF4-1210-4FB1-2836C0793681}"/>
              </a:ext>
            </a:extLst>
          </p:cNvPr>
          <p:cNvSpPr txBox="1"/>
          <p:nvPr/>
        </p:nvSpPr>
        <p:spPr>
          <a:xfrm>
            <a:off x="432954" y="244554"/>
            <a:ext cx="10747664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5F5F5"/>
                </a:solidFill>
                <a:latin typeface="+mn-lt"/>
                <a:ea typeface="Urbanist"/>
                <a:cs typeface="Urbanist"/>
                <a:sym typeface="Urbanist"/>
              </a:rPr>
              <a:t>Total Day usage patterns vs Exits </a:t>
            </a:r>
            <a:endParaRPr dirty="0">
              <a:latin typeface="+mn-lt"/>
            </a:endParaRPr>
          </a:p>
        </p:txBody>
      </p:sp>
      <p:sp>
        <p:nvSpPr>
          <p:cNvPr id="115" name="Google Shape;115;p15">
            <a:extLst>
              <a:ext uri="{FF2B5EF4-FFF2-40B4-BE49-F238E27FC236}">
                <a16:creationId xmlns:a16="http://schemas.microsoft.com/office/drawing/2014/main" id="{C53C58EC-20F8-7ABF-CFF7-5F2724F49788}"/>
              </a:ext>
            </a:extLst>
          </p:cNvPr>
          <p:cNvSpPr txBox="1"/>
          <p:nvPr/>
        </p:nvSpPr>
        <p:spPr>
          <a:xfrm>
            <a:off x="8458632" y="798552"/>
            <a:ext cx="3545899" cy="504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bg1"/>
                </a:solidFill>
                <a:latin typeface="+mn-lt"/>
              </a:rPr>
              <a:t>High usage customers in t</a:t>
            </a:r>
            <a:r>
              <a:rPr lang="en-US" sz="1800" b="1" i="0" dirty="0">
                <a:solidFill>
                  <a:schemeClr val="bg1"/>
                </a:solidFill>
                <a:effectLst/>
                <a:latin typeface="+mn-lt"/>
              </a:rPr>
              <a:t>wo humps at 160 and at 270 minutes vulnerable to exit.</a:t>
            </a:r>
          </a:p>
          <a:p>
            <a:pPr marL="285750" marR="0" lvl="0" indent="-28575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800" b="1" i="0" dirty="0">
              <a:solidFill>
                <a:schemeClr val="bg1"/>
              </a:solidFill>
              <a:effectLst/>
              <a:latin typeface="+mn-lt"/>
            </a:endParaRPr>
          </a:p>
          <a:p>
            <a:pPr marL="285750" marR="0" lvl="0" indent="-28575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chemeClr val="bg1"/>
                </a:solidFill>
                <a:effectLst/>
                <a:latin typeface="+mn-lt"/>
              </a:rPr>
              <a:t>Loyalty 150-180 minutes, beyond 250 likely to exit.</a:t>
            </a:r>
          </a:p>
          <a:p>
            <a:pPr marL="285750" marR="0" lvl="0" indent="-28575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800" b="1" i="0" dirty="0">
              <a:solidFill>
                <a:schemeClr val="bg1"/>
              </a:solidFill>
              <a:effectLst/>
              <a:latin typeface="+mn-lt"/>
            </a:endParaRPr>
          </a:p>
          <a:p>
            <a:pPr marL="285750" marR="0" lvl="0" indent="-28575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bg1"/>
                </a:solidFill>
                <a:latin typeface="+mn-lt"/>
              </a:rPr>
              <a:t>D</a:t>
            </a:r>
            <a:r>
              <a:rPr lang="en-US" sz="1800" b="1" i="0" dirty="0">
                <a:solidFill>
                  <a:schemeClr val="bg1"/>
                </a:solidFill>
                <a:effectLst/>
                <a:latin typeface="+mn-lt"/>
              </a:rPr>
              <a:t>aytime usage of around 220 minutes, beyond likely to exit.</a:t>
            </a:r>
          </a:p>
          <a:p>
            <a:pPr marL="285750" marR="0" lvl="0" indent="-28575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800" b="1" dirty="0">
              <a:solidFill>
                <a:schemeClr val="bg1"/>
              </a:solidFill>
              <a:latin typeface="+mn-lt"/>
            </a:endParaRPr>
          </a:p>
          <a:p>
            <a:pPr marL="285750" marR="0" lvl="0" indent="-28575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chemeClr val="bg1"/>
                </a:solidFill>
                <a:effectLst/>
                <a:latin typeface="+mn-lt"/>
              </a:rPr>
              <a:t>Higher usage customer exiting? Billing or service quality?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CBEBF3F8-5C9F-450A-F32E-237AE2BF83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98552"/>
            <a:ext cx="8271164" cy="4776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18680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Shape 110">
          <a:extLst>
            <a:ext uri="{FF2B5EF4-FFF2-40B4-BE49-F238E27FC236}">
              <a16:creationId xmlns:a16="http://schemas.microsoft.com/office/drawing/2014/main" id="{CDE4A5EA-D6A9-A408-39A1-40855CE2F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5" descr="image.png">
            <a:extLst>
              <a:ext uri="{FF2B5EF4-FFF2-40B4-BE49-F238E27FC236}">
                <a16:creationId xmlns:a16="http://schemas.microsoft.com/office/drawing/2014/main" id="{EDA1E642-4CD5-F98F-452E-688B7BF7BFC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1430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>
            <a:extLst>
              <a:ext uri="{FF2B5EF4-FFF2-40B4-BE49-F238E27FC236}">
                <a16:creationId xmlns:a16="http://schemas.microsoft.com/office/drawing/2014/main" id="{357BB686-E070-C3FC-8245-9F34CCBA8AE4}"/>
              </a:ext>
            </a:extLst>
          </p:cNvPr>
          <p:cNvSpPr txBox="1"/>
          <p:nvPr/>
        </p:nvSpPr>
        <p:spPr>
          <a:xfrm>
            <a:off x="432954" y="244554"/>
            <a:ext cx="10747664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5F5F5"/>
                </a:solidFill>
                <a:latin typeface="+mn-lt"/>
                <a:ea typeface="Urbanist"/>
                <a:cs typeface="Urbanist"/>
                <a:sym typeface="Urbanist"/>
              </a:rPr>
              <a:t>Total usage patterns vs Exits </a:t>
            </a:r>
            <a:endParaRPr dirty="0">
              <a:latin typeface="+mn-lt"/>
            </a:endParaRPr>
          </a:p>
        </p:txBody>
      </p:sp>
      <p:sp>
        <p:nvSpPr>
          <p:cNvPr id="115" name="Google Shape;115;p15">
            <a:extLst>
              <a:ext uri="{FF2B5EF4-FFF2-40B4-BE49-F238E27FC236}">
                <a16:creationId xmlns:a16="http://schemas.microsoft.com/office/drawing/2014/main" id="{0CF3CDF4-467B-1AD2-13BB-56564ADEE2F8}"/>
              </a:ext>
            </a:extLst>
          </p:cNvPr>
          <p:cNvSpPr txBox="1"/>
          <p:nvPr/>
        </p:nvSpPr>
        <p:spPr>
          <a:xfrm>
            <a:off x="432954" y="5677146"/>
            <a:ext cx="10307782" cy="1163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bg1"/>
                </a:solidFill>
                <a:latin typeface="+mn-lt"/>
              </a:rPr>
              <a:t>S</a:t>
            </a:r>
            <a:r>
              <a:rPr lang="en-US" sz="1800" b="1" i="0" dirty="0">
                <a:solidFill>
                  <a:schemeClr val="bg1"/>
                </a:solidFill>
                <a:effectLst/>
                <a:latin typeface="+mn-lt"/>
              </a:rPr>
              <a:t>tatistical threshold  on the (right), when loyalty ends beyond 600minutes.  </a:t>
            </a:r>
          </a:p>
          <a:p>
            <a:pPr marL="285750" marR="0" lvl="0" indent="-28575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bg1"/>
                </a:solidFill>
                <a:latin typeface="+mn-lt"/>
              </a:rPr>
              <a:t>S</a:t>
            </a:r>
            <a:r>
              <a:rPr lang="en-US" sz="1800" b="1" i="0" dirty="0">
                <a:solidFill>
                  <a:schemeClr val="bg1"/>
                </a:solidFill>
                <a:effectLst/>
                <a:latin typeface="+mn-lt"/>
              </a:rPr>
              <a:t>afe zone in the violin (left) at between 500-600minutes.</a:t>
            </a:r>
          </a:p>
          <a:p>
            <a:pPr marL="285750" marR="0" lvl="0" indent="-28575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chemeClr val="bg1"/>
                </a:solidFill>
                <a:effectLst/>
                <a:latin typeface="+mn-lt"/>
              </a:rPr>
              <a:t>Customer retention of safe bulk zone is imperative</a:t>
            </a: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31B30CD4-0004-AD95-7E9E-DEC4EC8B63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64" y="798552"/>
            <a:ext cx="12133636" cy="4776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41017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Shape 110">
          <a:extLst>
            <a:ext uri="{FF2B5EF4-FFF2-40B4-BE49-F238E27FC236}">
              <a16:creationId xmlns:a16="http://schemas.microsoft.com/office/drawing/2014/main" id="{C18864F9-E87A-DBE3-07B2-DC90E4DB0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5" descr="image.png">
            <a:extLst>
              <a:ext uri="{FF2B5EF4-FFF2-40B4-BE49-F238E27FC236}">
                <a16:creationId xmlns:a16="http://schemas.microsoft.com/office/drawing/2014/main" id="{06160AFC-EEF3-1736-AE10-4C8467A6B42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429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>
            <a:extLst>
              <a:ext uri="{FF2B5EF4-FFF2-40B4-BE49-F238E27FC236}">
                <a16:creationId xmlns:a16="http://schemas.microsoft.com/office/drawing/2014/main" id="{422D6452-A286-AD02-7F51-339F5F754BCE}"/>
              </a:ext>
            </a:extLst>
          </p:cNvPr>
          <p:cNvSpPr txBox="1"/>
          <p:nvPr/>
        </p:nvSpPr>
        <p:spPr>
          <a:xfrm>
            <a:off x="280554" y="114300"/>
            <a:ext cx="10747664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5F5F5"/>
                </a:solidFill>
                <a:latin typeface="+mn-lt"/>
                <a:ea typeface="Urbanist"/>
                <a:cs typeface="Urbanist"/>
                <a:sym typeface="Urbanist"/>
              </a:rPr>
              <a:t>Correlation Heat Map.</a:t>
            </a:r>
            <a:endParaRPr dirty="0">
              <a:latin typeface="+mn-lt"/>
            </a:endParaRPr>
          </a:p>
        </p:txBody>
      </p:sp>
      <p:sp>
        <p:nvSpPr>
          <p:cNvPr id="115" name="Google Shape;115;p15">
            <a:extLst>
              <a:ext uri="{FF2B5EF4-FFF2-40B4-BE49-F238E27FC236}">
                <a16:creationId xmlns:a16="http://schemas.microsoft.com/office/drawing/2014/main" id="{96E3555C-6DDB-BBFD-DCB4-C2725AD476BF}"/>
              </a:ext>
            </a:extLst>
          </p:cNvPr>
          <p:cNvSpPr txBox="1"/>
          <p:nvPr/>
        </p:nvSpPr>
        <p:spPr>
          <a:xfrm>
            <a:off x="8029141" y="964807"/>
            <a:ext cx="3941186" cy="430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chemeClr val="bg1"/>
                </a:solidFill>
                <a:effectLst/>
                <a:latin typeface="+mn-lt"/>
              </a:rPr>
              <a:t>The bright red spot of 1.0% and 96% show multicollinearity. </a:t>
            </a:r>
          </a:p>
          <a:p>
            <a:pPr marL="285750" marR="0" lvl="0" indent="-28575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000" b="1" i="0" dirty="0">
              <a:solidFill>
                <a:schemeClr val="bg1"/>
              </a:solidFill>
              <a:effectLst/>
              <a:latin typeface="+mn-lt"/>
            </a:endParaRPr>
          </a:p>
          <a:p>
            <a:pPr marL="285750" marR="0" lvl="0" indent="-28575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chemeClr val="bg1"/>
                </a:solidFill>
                <a:effectLst/>
                <a:latin typeface="+mn-lt"/>
              </a:rPr>
              <a:t>The colored 'Churn' row shows the key drivers of exits.</a:t>
            </a:r>
          </a:p>
          <a:p>
            <a:pPr marL="285750" marR="0" lvl="0" indent="-28575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000" b="1" dirty="0">
              <a:solidFill>
                <a:schemeClr val="bg1"/>
              </a:solidFill>
              <a:latin typeface="+mn-lt"/>
            </a:endParaRPr>
          </a:p>
          <a:p>
            <a:pPr marL="285750" marR="0" lvl="0" indent="-28575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+mn-lt"/>
              </a:rPr>
              <a:t>F</a:t>
            </a:r>
            <a:r>
              <a:rPr lang="en-US" sz="2000" b="1" i="0" dirty="0">
                <a:solidFill>
                  <a:schemeClr val="bg1"/>
                </a:solidFill>
                <a:effectLst/>
                <a:latin typeface="+mn-lt"/>
              </a:rPr>
              <a:t>eature engineering to get ratios and usage intensity</a:t>
            </a:r>
            <a:r>
              <a:rPr lang="en-US" sz="2000" b="1" dirty="0">
                <a:solidFill>
                  <a:schemeClr val="bg1"/>
                </a:solidFill>
                <a:latin typeface="+mn-lt"/>
              </a:rPr>
              <a:t>.</a:t>
            </a:r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239A083F-D1C0-9E15-89C3-EEE63FFF34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31" y="719252"/>
            <a:ext cx="7681696" cy="6253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00873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63801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A36DCFD7-F72A-C873-0EFB-C588F2BFF1BE}"/>
              </a:ext>
            </a:extLst>
          </p:cNvPr>
          <p:cNvGrpSpPr/>
          <p:nvPr/>
        </p:nvGrpSpPr>
        <p:grpSpPr>
          <a:xfrm>
            <a:off x="7234726" y="-63801"/>
            <a:ext cx="4804874" cy="6794198"/>
            <a:chOff x="6150366" y="3003351"/>
            <a:chExt cx="5470134" cy="1985489"/>
          </a:xfrm>
        </p:grpSpPr>
        <p:pic>
          <p:nvPicPr>
            <p:cNvPr id="145" name="Google Shape;145;p17" descr="image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150366" y="3003351"/>
              <a:ext cx="5470134" cy="198548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7" name="Google Shape;147;p17"/>
            <p:cNvSpPr txBox="1"/>
            <p:nvPr/>
          </p:nvSpPr>
          <p:spPr>
            <a:xfrm>
              <a:off x="6445128" y="3181646"/>
              <a:ext cx="4880610" cy="13491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en-US" sz="2000" b="1" i="0" dirty="0">
                  <a:solidFill>
                    <a:schemeClr val="bg1"/>
                  </a:solidFill>
                  <a:effectLst/>
                  <a:latin typeface="+mn-lt"/>
                </a:rPr>
                <a:t>The data exploratory summary show that  customer exits directly correlate to</a:t>
              </a: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endParaRPr lang="en-US" sz="2000" b="1" dirty="0">
                <a:solidFill>
                  <a:schemeClr val="bg1"/>
                </a:solidFill>
                <a:latin typeface="+mn-lt"/>
              </a:endParaRP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en-US" sz="2000" b="1" dirty="0">
                  <a:solidFill>
                    <a:schemeClr val="bg1"/>
                  </a:solidFill>
                  <a:latin typeface="+mn-lt"/>
                </a:rPr>
                <a:t>a</a:t>
              </a:r>
              <a:r>
                <a:rPr lang="en-US" sz="2000" b="1" i="0" dirty="0">
                  <a:solidFill>
                    <a:schemeClr val="bg1"/>
                  </a:solidFill>
                  <a:effectLst/>
                  <a:latin typeface="+mn-lt"/>
                </a:rPr>
                <a:t>) Service dissatisfaction.</a:t>
              </a: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en-US" sz="2000" b="1" dirty="0">
                  <a:solidFill>
                    <a:schemeClr val="bg1"/>
                  </a:solidFill>
                  <a:latin typeface="+mn-lt"/>
                </a:rPr>
                <a:t>b) Usage pattern and behavior.</a:t>
              </a:r>
            </a:p>
            <a:p>
              <a:pPr marL="285750" lvl="1" indent="-285750">
                <a:buFont typeface="Arial" panose="020B0604020202020204" pitchFamily="34" charset="0"/>
                <a:buChar char="•"/>
              </a:pPr>
              <a:r>
                <a:rPr lang="en-US" sz="2000" b="1" dirty="0">
                  <a:solidFill>
                    <a:schemeClr val="bg1"/>
                  </a:solidFill>
                  <a:latin typeface="+mn-lt"/>
                </a:rPr>
                <a:t>c) S</a:t>
              </a:r>
              <a:r>
                <a:rPr lang="en-US" sz="2000" b="1" i="0" dirty="0">
                  <a:solidFill>
                    <a:schemeClr val="bg1"/>
                  </a:solidFill>
                  <a:effectLst/>
                  <a:latin typeface="+mn-lt"/>
                </a:rPr>
                <a:t>ervice plan characteristics.</a:t>
              </a: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endParaRPr lang="en-US" sz="2000" b="1" dirty="0">
                <a:solidFill>
                  <a:schemeClr val="bg1"/>
                </a:solidFill>
                <a:latin typeface="+mn-lt"/>
              </a:endParaRP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en-US" sz="2000" b="1" i="0" dirty="0">
                  <a:solidFill>
                    <a:schemeClr val="bg1"/>
                  </a:solidFill>
                  <a:effectLst/>
                  <a:latin typeface="+mn-lt"/>
                </a:rPr>
                <a:t>The dataset is imbalanced, necessitating.</a:t>
              </a: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endParaRPr lang="en-US" sz="2000" b="1" dirty="0">
                <a:solidFill>
                  <a:schemeClr val="bg1"/>
                </a:solidFill>
                <a:latin typeface="+mn-lt"/>
              </a:endParaRP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en-US" sz="2000" b="1" i="0" dirty="0">
                  <a:solidFill>
                    <a:schemeClr val="bg1"/>
                  </a:solidFill>
                  <a:effectLst/>
                  <a:latin typeface="+mn-lt"/>
                </a:rPr>
                <a:t>Feature selection on usage and charge variables to avoid redundancy.</a:t>
              </a: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1" dirty="0">
                <a:solidFill>
                  <a:schemeClr val="bg1"/>
                </a:solidFill>
                <a:latin typeface="+mn-lt"/>
              </a:endParaRPr>
            </a:p>
          </p:txBody>
        </p:sp>
      </p:grpSp>
      <p:sp>
        <p:nvSpPr>
          <p:cNvPr id="152" name="Google Shape;152;p17"/>
          <p:cNvSpPr txBox="1"/>
          <p:nvPr/>
        </p:nvSpPr>
        <p:spPr>
          <a:xfrm>
            <a:off x="571500" y="2947392"/>
            <a:ext cx="381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pic>
        <p:nvPicPr>
          <p:cNvPr id="3" name="Picture 4" descr="Event Driven Architecture Sahaj Software">
            <a:extLst>
              <a:ext uri="{FF2B5EF4-FFF2-40B4-BE49-F238E27FC236}">
                <a16:creationId xmlns:a16="http://schemas.microsoft.com/office/drawing/2014/main" id="{75CB08CC-2E4D-9E0C-3F9B-93A59130911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76" t="4282" r="6013" b="4194"/>
          <a:stretch/>
        </p:blipFill>
        <p:spPr bwMode="auto">
          <a:xfrm>
            <a:off x="12700" y="1"/>
            <a:ext cx="7183926" cy="6730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A72AE6-1F57-83AE-B2DE-BCECBA795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What is data modeling? - Keele University - Study online">
            <a:extLst>
              <a:ext uri="{FF2B5EF4-FFF2-40B4-BE49-F238E27FC236}">
                <a16:creationId xmlns:a16="http://schemas.microsoft.com/office/drawing/2014/main" id="{DE866563-2986-C5AC-6D52-89E2125F15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14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26F833B-7FB3-6B47-314C-AE3CFC68A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5418" y="2568288"/>
            <a:ext cx="7772400" cy="1072572"/>
          </a:xfrm>
          <a:noFill/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latin typeface="+mn-lt"/>
              </a:rPr>
              <a:t>Data Modeling </a:t>
            </a:r>
          </a:p>
        </p:txBody>
      </p:sp>
    </p:spTree>
    <p:extLst>
      <p:ext uri="{BB962C8B-B14F-4D97-AF65-F5344CB8AC3E}">
        <p14:creationId xmlns:p14="http://schemas.microsoft.com/office/powerpoint/2010/main" val="12200660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Shape 90">
          <a:extLst>
            <a:ext uri="{FF2B5EF4-FFF2-40B4-BE49-F238E27FC236}">
              <a16:creationId xmlns:a16="http://schemas.microsoft.com/office/drawing/2014/main" id="{E9602797-649E-1C64-D2FE-4BE918FA7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>
            <a:extLst>
              <a:ext uri="{FF2B5EF4-FFF2-40B4-BE49-F238E27FC236}">
                <a16:creationId xmlns:a16="http://schemas.microsoft.com/office/drawing/2014/main" id="{07D0753F-4B8C-2819-79B4-888DBAC6540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47054" y="2015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4" descr="image.png">
            <a:extLst>
              <a:ext uri="{FF2B5EF4-FFF2-40B4-BE49-F238E27FC236}">
                <a16:creationId xmlns:a16="http://schemas.microsoft.com/office/drawing/2014/main" id="{10B19CE0-F4AA-6641-9EB0-13AD0D33136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811017"/>
            <a:ext cx="11049000" cy="62091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9FAE500B-F9B5-FE30-BB69-5B38751F3568}"/>
              </a:ext>
            </a:extLst>
          </p:cNvPr>
          <p:cNvSpPr txBox="1"/>
          <p:nvPr/>
        </p:nvSpPr>
        <p:spPr>
          <a:xfrm>
            <a:off x="264236" y="130949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bg1"/>
                </a:solidFill>
                <a:latin typeface="+mn-lt"/>
                <a:ea typeface="Urbanist"/>
                <a:cs typeface="Urbanist"/>
                <a:sym typeface="Urbanist"/>
              </a:rPr>
              <a:t>Leveling the Playing Field</a:t>
            </a:r>
            <a:endParaRPr lang="en-US" sz="36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97" name="Google Shape;97;p14">
            <a:extLst>
              <a:ext uri="{FF2B5EF4-FFF2-40B4-BE49-F238E27FC236}">
                <a16:creationId xmlns:a16="http://schemas.microsoft.com/office/drawing/2014/main" id="{E28AE85A-C022-F4B5-C34F-4DDBA7F55466}"/>
              </a:ext>
            </a:extLst>
          </p:cNvPr>
          <p:cNvSpPr txBox="1"/>
          <p:nvPr/>
        </p:nvSpPr>
        <p:spPr>
          <a:xfrm>
            <a:off x="800100" y="5001517"/>
            <a:ext cx="10629900" cy="290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i="1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Set the scene for modelling</a:t>
            </a:r>
            <a:endParaRPr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C12FD01-D4C8-6F73-2298-2F1217669BB6}"/>
              </a:ext>
            </a:extLst>
          </p:cNvPr>
          <p:cNvGrpSpPr/>
          <p:nvPr/>
        </p:nvGrpSpPr>
        <p:grpSpPr>
          <a:xfrm>
            <a:off x="3936657" y="1313983"/>
            <a:ext cx="3765499" cy="2968000"/>
            <a:chOff x="4127601" y="1313983"/>
            <a:chExt cx="3765499" cy="2968000"/>
          </a:xfrm>
        </p:grpSpPr>
        <p:pic>
          <p:nvPicPr>
            <p:cNvPr id="93" name="Google Shape;93;p14" descr="image.png">
              <a:extLst>
                <a:ext uri="{FF2B5EF4-FFF2-40B4-BE49-F238E27FC236}">
                  <a16:creationId xmlns:a16="http://schemas.microsoft.com/office/drawing/2014/main" id="{59832A13-9412-08F9-8B03-7D34CDBB74B0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127601" y="1313983"/>
              <a:ext cx="3765499" cy="296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8" name="Google Shape;98;p14" descr="image.png">
              <a:extLst>
                <a:ext uri="{FF2B5EF4-FFF2-40B4-BE49-F238E27FC236}">
                  <a16:creationId xmlns:a16="http://schemas.microsoft.com/office/drawing/2014/main" id="{A485C647-D169-5BE1-F5D2-C9FF59AD6AE9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315874" y="1467089"/>
              <a:ext cx="2965400" cy="381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" name="Google Shape;99;p14">
              <a:extLst>
                <a:ext uri="{FF2B5EF4-FFF2-40B4-BE49-F238E27FC236}">
                  <a16:creationId xmlns:a16="http://schemas.microsoft.com/office/drawing/2014/main" id="{3B3408DE-22D2-D5F1-FB6E-EE5AC5F83512}"/>
                </a:ext>
              </a:extLst>
            </p:cNvPr>
            <p:cNvSpPr txBox="1"/>
            <p:nvPr/>
          </p:nvSpPr>
          <p:spPr>
            <a:xfrm>
              <a:off x="4429136" y="2168181"/>
              <a:ext cx="3113670" cy="11079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i="0" u="none" strike="noStrike" cap="none" dirty="0">
                  <a:solidFill>
                    <a:srgbClr val="F5F5F5"/>
                  </a:solidFill>
                  <a:latin typeface="+mn-lt"/>
                  <a:ea typeface="Urbanist"/>
                  <a:cs typeface="Urbanist"/>
                  <a:sym typeface="Urbanist"/>
                </a:rPr>
                <a:t>Split.</a:t>
              </a:r>
            </a:p>
            <a:p>
              <a:pPr marL="285750" marR="0" lvl="0" indent="-285750" algn="l" rtl="0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US" sz="1800" b="1" dirty="0">
                  <a:solidFill>
                    <a:srgbClr val="F5F5F5"/>
                  </a:solidFill>
                  <a:latin typeface="+mn-lt"/>
                  <a:ea typeface="Urbanist"/>
                  <a:cs typeface="Urbanist"/>
                  <a:sym typeface="Urbanist"/>
                </a:rPr>
                <a:t>Split-Train , Train-Test Split</a:t>
              </a:r>
            </a:p>
            <a:p>
              <a:pPr marR="0" lvl="0" algn="l" rtl="0">
                <a:spcBef>
                  <a:spcPts val="0"/>
                </a:spcBef>
                <a:spcAft>
                  <a:spcPts val="0"/>
                </a:spcAft>
              </a:pPr>
              <a:endParaRPr lang="en-US" sz="1800" b="1" i="0" u="none" strike="noStrike" cap="none" dirty="0">
                <a:solidFill>
                  <a:srgbClr val="F5F5F5"/>
                </a:solidFill>
                <a:latin typeface="+mn-l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FF74B32F-0873-12BC-256F-00470A77F969}"/>
              </a:ext>
            </a:extLst>
          </p:cNvPr>
          <p:cNvGrpSpPr/>
          <p:nvPr/>
        </p:nvGrpSpPr>
        <p:grpSpPr>
          <a:xfrm>
            <a:off x="221476" y="1307548"/>
            <a:ext cx="3451175" cy="3070123"/>
            <a:chOff x="221476" y="1307548"/>
            <a:chExt cx="3451175" cy="3070123"/>
          </a:xfrm>
        </p:grpSpPr>
        <p:pic>
          <p:nvPicPr>
            <p:cNvPr id="94" name="Google Shape;94;p14" descr="image.png">
              <a:extLst>
                <a:ext uri="{FF2B5EF4-FFF2-40B4-BE49-F238E27FC236}">
                  <a16:creationId xmlns:a16="http://schemas.microsoft.com/office/drawing/2014/main" id="{5FE4865B-4B2D-7558-A405-0DBF35B58EB8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221476" y="1307548"/>
              <a:ext cx="3451175" cy="307012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" name="Google Shape;101;p14" descr="image.png">
              <a:extLst>
                <a:ext uri="{FF2B5EF4-FFF2-40B4-BE49-F238E27FC236}">
                  <a16:creationId xmlns:a16="http://schemas.microsoft.com/office/drawing/2014/main" id="{CC5CA714-EF98-913A-DB44-1796A29FDCE8}"/>
                </a:ext>
              </a:extLst>
            </p:cNvPr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359431" y="1417182"/>
              <a:ext cx="2965400" cy="381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" name="Google Shape;102;p14">
              <a:extLst>
                <a:ext uri="{FF2B5EF4-FFF2-40B4-BE49-F238E27FC236}">
                  <a16:creationId xmlns:a16="http://schemas.microsoft.com/office/drawing/2014/main" id="{C1EF2564-80F5-9A20-6E3F-604A38899848}"/>
                </a:ext>
              </a:extLst>
            </p:cNvPr>
            <p:cNvSpPr txBox="1"/>
            <p:nvPr/>
          </p:nvSpPr>
          <p:spPr>
            <a:xfrm>
              <a:off x="264236" y="1898163"/>
              <a:ext cx="3408415" cy="16619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dirty="0">
                  <a:solidFill>
                    <a:srgbClr val="F5F5F5"/>
                  </a:solidFill>
                  <a:latin typeface="+mn-lt"/>
                  <a:ea typeface="Urbanist"/>
                  <a:cs typeface="Urbanist"/>
                  <a:sym typeface="Urbanist"/>
                </a:rPr>
                <a:t>Select</a:t>
              </a:r>
              <a:endParaRPr lang="en-US" sz="1800" b="1" i="0" u="none" strike="noStrike" cap="none" dirty="0">
                <a:solidFill>
                  <a:srgbClr val="F5F5F5"/>
                </a:solidFill>
                <a:latin typeface="+mn-lt"/>
                <a:ea typeface="Urbanist"/>
                <a:cs typeface="Urbanist"/>
                <a:sym typeface="Urbanist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b="1" i="0" u="none" strike="noStrike" cap="none" dirty="0">
                <a:solidFill>
                  <a:srgbClr val="F5F5F5"/>
                </a:solidFill>
                <a:latin typeface="+mn-lt"/>
                <a:ea typeface="Urbanist"/>
                <a:cs typeface="Urbanist"/>
                <a:sym typeface="Urbanist"/>
              </a:endParaRPr>
            </a:p>
            <a:p>
              <a:pPr marL="285750" marR="0" lvl="0" indent="-285750" algn="l" rtl="0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US" sz="1800" b="1" dirty="0">
                  <a:solidFill>
                    <a:srgbClr val="F5F5F5"/>
                  </a:solidFill>
                  <a:latin typeface="+mn-lt"/>
                  <a:ea typeface="Urbanist"/>
                  <a:cs typeface="Urbanist"/>
                  <a:sym typeface="Urbanist"/>
                </a:rPr>
                <a:t>Target y = ['churn'] </a:t>
              </a:r>
            </a:p>
            <a:p>
              <a:pPr marL="285750" marR="0" lvl="0" indent="-285750" algn="l" rtl="0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endParaRPr lang="en-US" sz="1800" b="1" dirty="0">
                <a:solidFill>
                  <a:srgbClr val="F5F5F5"/>
                </a:solidFill>
                <a:latin typeface="+mn-lt"/>
                <a:ea typeface="Urbanist"/>
                <a:cs typeface="Urbanist"/>
                <a:sym typeface="Urbanist"/>
              </a:endParaRPr>
            </a:p>
            <a:p>
              <a:pPr marL="285750" marR="0" lvl="0" indent="-285750" algn="l" rtl="0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US" sz="1800" b="1" dirty="0">
                  <a:solidFill>
                    <a:srgbClr val="F5F5F5"/>
                  </a:solidFill>
                  <a:latin typeface="+mn-lt"/>
                  <a:ea typeface="Urbanist"/>
                  <a:cs typeface="Urbanist"/>
                  <a:sym typeface="Urbanist"/>
                </a:rPr>
                <a:t>Feature X = .drop(columns=['churn'])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10F4DD6B-EEDA-1DF8-55DC-F10A2DF1BF6A}"/>
              </a:ext>
            </a:extLst>
          </p:cNvPr>
          <p:cNvGrpSpPr/>
          <p:nvPr/>
        </p:nvGrpSpPr>
        <p:grpSpPr>
          <a:xfrm>
            <a:off x="7702156" y="1383764"/>
            <a:ext cx="3512598" cy="2967999"/>
            <a:chOff x="7917403" y="1367879"/>
            <a:chExt cx="3512598" cy="2967999"/>
          </a:xfrm>
        </p:grpSpPr>
        <p:pic>
          <p:nvPicPr>
            <p:cNvPr id="95" name="Google Shape;95;p14" descr="image.png">
              <a:extLst>
                <a:ext uri="{FF2B5EF4-FFF2-40B4-BE49-F238E27FC236}">
                  <a16:creationId xmlns:a16="http://schemas.microsoft.com/office/drawing/2014/main" id="{9706A131-65A8-F04B-5DFB-D9BBD41118AA}"/>
                </a:ext>
              </a:extLst>
            </p:cNvPr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7917403" y="1367879"/>
              <a:ext cx="3512598" cy="29679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" name="Google Shape;104;p14" descr="image.png">
              <a:extLst>
                <a:ext uri="{FF2B5EF4-FFF2-40B4-BE49-F238E27FC236}">
                  <a16:creationId xmlns:a16="http://schemas.microsoft.com/office/drawing/2014/main" id="{837E56B9-75BE-6C5A-4D54-704DC8633711}"/>
                </a:ext>
              </a:extLst>
            </p:cNvPr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8083304" y="1512458"/>
              <a:ext cx="2965549" cy="381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" name="Google Shape;105;p14">
              <a:extLst>
                <a:ext uri="{FF2B5EF4-FFF2-40B4-BE49-F238E27FC236}">
                  <a16:creationId xmlns:a16="http://schemas.microsoft.com/office/drawing/2014/main" id="{DE359602-1524-6D51-0041-502011C215DF}"/>
                </a:ext>
              </a:extLst>
            </p:cNvPr>
            <p:cNvSpPr txBox="1"/>
            <p:nvPr/>
          </p:nvSpPr>
          <p:spPr>
            <a:xfrm>
              <a:off x="8147351" y="2028712"/>
              <a:ext cx="3282649" cy="19389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dirty="0">
                  <a:solidFill>
                    <a:srgbClr val="F5F5F5"/>
                  </a:solidFill>
                  <a:latin typeface="+mn-lt"/>
                  <a:ea typeface="Urbanist"/>
                  <a:cs typeface="Urbanist"/>
                  <a:sym typeface="Urbanist"/>
                </a:rPr>
                <a:t>Balance.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800" b="1" dirty="0">
                  <a:solidFill>
                    <a:srgbClr val="F5F5F5"/>
                  </a:solidFill>
                  <a:latin typeface="+mn-lt"/>
                  <a:ea typeface="Urbanist"/>
                  <a:cs typeface="Urbanist"/>
                  <a:sym typeface="Urbanist"/>
                </a:rPr>
                <a:t>Correct the imbalance, focus on Customers exiting.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sz="1800" b="1" dirty="0">
                <a:solidFill>
                  <a:srgbClr val="F5F5F5"/>
                </a:solidFill>
                <a:latin typeface="+mn-lt"/>
                <a:ea typeface="Urbanist"/>
                <a:cs typeface="Urbanist"/>
                <a:sym typeface="Urbanist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800" b="1" dirty="0">
                  <a:solidFill>
                    <a:srgbClr val="F5F5F5"/>
                  </a:solidFill>
                  <a:latin typeface="+mn-lt"/>
                  <a:ea typeface="Urbanist"/>
                  <a:cs typeface="Urbanist"/>
                  <a:sym typeface="Urbanist"/>
                </a:rPr>
                <a:t>Focus on Recall and F1 rather than accuracy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855438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Shape 232">
          <a:extLst>
            <a:ext uri="{FF2B5EF4-FFF2-40B4-BE49-F238E27FC236}">
              <a16:creationId xmlns:a16="http://schemas.microsoft.com/office/drawing/2014/main" id="{36CD1AF4-AF8C-908F-0C87-ECE9659F9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24" descr="image.png">
            <a:extLst>
              <a:ext uri="{FF2B5EF4-FFF2-40B4-BE49-F238E27FC236}">
                <a16:creationId xmlns:a16="http://schemas.microsoft.com/office/drawing/2014/main" id="{F5182171-5E1F-098D-CA6E-6F17DFB0A8C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4">
            <a:extLst>
              <a:ext uri="{FF2B5EF4-FFF2-40B4-BE49-F238E27FC236}">
                <a16:creationId xmlns:a16="http://schemas.microsoft.com/office/drawing/2014/main" id="{B21482AD-7B09-EFEB-E230-4CB1B0815109}"/>
              </a:ext>
            </a:extLst>
          </p:cNvPr>
          <p:cNvSpPr txBox="1"/>
          <p:nvPr/>
        </p:nvSpPr>
        <p:spPr>
          <a:xfrm>
            <a:off x="571500" y="3810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bg1"/>
                </a:solidFill>
                <a:latin typeface="+mn-lt"/>
                <a:ea typeface="Urbanist"/>
                <a:cs typeface="Urbanist"/>
                <a:sym typeface="Urbanist"/>
              </a:rPr>
              <a:t>Modeling the exit Path</a:t>
            </a:r>
            <a:endParaRPr lang="en-US" sz="3600" dirty="0">
              <a:solidFill>
                <a:schemeClr val="bg1"/>
              </a:solidFill>
              <a:latin typeface="+mn-lt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A9FC4AA-7D98-B4E4-408B-4D5725AFB5DF}"/>
              </a:ext>
            </a:extLst>
          </p:cNvPr>
          <p:cNvGrpSpPr/>
          <p:nvPr/>
        </p:nvGrpSpPr>
        <p:grpSpPr>
          <a:xfrm>
            <a:off x="152401" y="2070851"/>
            <a:ext cx="3784548" cy="3083039"/>
            <a:chOff x="571500" y="2717601"/>
            <a:chExt cx="3746449" cy="2260996"/>
          </a:xfrm>
        </p:grpSpPr>
        <p:pic>
          <p:nvPicPr>
            <p:cNvPr id="234" name="Google Shape;234;p24" descr="image.png">
              <a:extLst>
                <a:ext uri="{FF2B5EF4-FFF2-40B4-BE49-F238E27FC236}">
                  <a16:creationId xmlns:a16="http://schemas.microsoft.com/office/drawing/2014/main" id="{F09C8915-74A7-7842-9FE4-290B2DE0A018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71500" y="2717601"/>
              <a:ext cx="3555950" cy="22609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8" name="Google Shape;238;p24" descr="image.png">
              <a:extLst>
                <a:ext uri="{FF2B5EF4-FFF2-40B4-BE49-F238E27FC236}">
                  <a16:creationId xmlns:a16="http://schemas.microsoft.com/office/drawing/2014/main" id="{CDC3A2FB-F12C-B6E3-1B2A-320AC9305E6D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06914" y="2854313"/>
              <a:ext cx="2965400" cy="381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9" name="Google Shape;239;p24">
              <a:extLst>
                <a:ext uri="{FF2B5EF4-FFF2-40B4-BE49-F238E27FC236}">
                  <a16:creationId xmlns:a16="http://schemas.microsoft.com/office/drawing/2014/main" id="{814C6946-6F35-6ED0-C1DE-887CD1AD7A9E}"/>
                </a:ext>
              </a:extLst>
            </p:cNvPr>
            <p:cNvSpPr txBox="1"/>
            <p:nvPr/>
          </p:nvSpPr>
          <p:spPr>
            <a:xfrm>
              <a:off x="1204279" y="3103267"/>
              <a:ext cx="3113670" cy="2031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dirty="0">
                  <a:solidFill>
                    <a:srgbClr val="F5F5F5"/>
                  </a:solidFill>
                  <a:latin typeface="+mn-lt"/>
                  <a:ea typeface="Urbanist"/>
                  <a:cs typeface="Urbanist"/>
                  <a:sym typeface="Urbanist"/>
                </a:rPr>
                <a:t>Logistic Regression </a:t>
              </a:r>
              <a:endParaRPr dirty="0">
                <a:latin typeface="+mn-lt"/>
              </a:endParaRPr>
            </a:p>
          </p:txBody>
        </p:sp>
        <p:sp>
          <p:nvSpPr>
            <p:cNvPr id="240" name="Google Shape;240;p24">
              <a:extLst>
                <a:ext uri="{FF2B5EF4-FFF2-40B4-BE49-F238E27FC236}">
                  <a16:creationId xmlns:a16="http://schemas.microsoft.com/office/drawing/2014/main" id="{82913978-0266-67F4-22AE-3DD25874ABB4}"/>
                </a:ext>
              </a:extLst>
            </p:cNvPr>
            <p:cNvSpPr txBox="1"/>
            <p:nvPr/>
          </p:nvSpPr>
          <p:spPr>
            <a:xfrm>
              <a:off x="706914" y="3777096"/>
              <a:ext cx="2965400" cy="2843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992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dirty="0">
                  <a:solidFill>
                    <a:schemeClr val="bg1"/>
                  </a:solidFill>
                  <a:latin typeface="+mn-lt"/>
                </a:rPr>
                <a:t>The Linearity Checker</a:t>
              </a:r>
              <a:endParaRPr sz="1800" b="1" dirty="0">
                <a:solidFill>
                  <a:schemeClr val="bg1"/>
                </a:solidFill>
                <a:latin typeface="+mn-lt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4BD412B6-AB49-91DD-A921-F579D8210502}"/>
              </a:ext>
            </a:extLst>
          </p:cNvPr>
          <p:cNvGrpSpPr/>
          <p:nvPr/>
        </p:nvGrpSpPr>
        <p:grpSpPr>
          <a:xfrm>
            <a:off x="3787171" y="2076786"/>
            <a:ext cx="4015202" cy="3083039"/>
            <a:chOff x="4317950" y="2717601"/>
            <a:chExt cx="3555950" cy="2260996"/>
          </a:xfrm>
        </p:grpSpPr>
        <p:pic>
          <p:nvPicPr>
            <p:cNvPr id="235" name="Google Shape;235;p24" descr="image.png">
              <a:extLst>
                <a:ext uri="{FF2B5EF4-FFF2-40B4-BE49-F238E27FC236}">
                  <a16:creationId xmlns:a16="http://schemas.microsoft.com/office/drawing/2014/main" id="{2A7E23D7-3591-60B5-6908-27EDB5587585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317950" y="2717601"/>
              <a:ext cx="3555950" cy="22609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1" name="Google Shape;241;p24" descr="image.png">
              <a:extLst>
                <a:ext uri="{FF2B5EF4-FFF2-40B4-BE49-F238E27FC236}">
                  <a16:creationId xmlns:a16="http://schemas.microsoft.com/office/drawing/2014/main" id="{F8448100-331A-B926-B73E-689346DBF27B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419261" y="2843590"/>
              <a:ext cx="2965400" cy="381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" name="Google Shape;242;p24">
              <a:extLst>
                <a:ext uri="{FF2B5EF4-FFF2-40B4-BE49-F238E27FC236}">
                  <a16:creationId xmlns:a16="http://schemas.microsoft.com/office/drawing/2014/main" id="{5FCB1915-9A58-E5BE-056D-2DE9C166672E}"/>
                </a:ext>
              </a:extLst>
            </p:cNvPr>
            <p:cNvSpPr txBox="1"/>
            <p:nvPr/>
          </p:nvSpPr>
          <p:spPr>
            <a:xfrm>
              <a:off x="4391488" y="3224590"/>
              <a:ext cx="3113670" cy="2031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dirty="0">
                  <a:solidFill>
                    <a:srgbClr val="F5F5F5"/>
                  </a:solidFill>
                  <a:latin typeface="+mn-lt"/>
                  <a:ea typeface="Urbanist"/>
                  <a:cs typeface="Urbanist"/>
                  <a:sym typeface="Urbanist"/>
                </a:rPr>
                <a:t>Decision Tree </a:t>
              </a:r>
              <a:endParaRPr dirty="0">
                <a:latin typeface="+mn-lt"/>
              </a:endParaRPr>
            </a:p>
          </p:txBody>
        </p:sp>
        <p:sp>
          <p:nvSpPr>
            <p:cNvPr id="243" name="Google Shape;243;p24">
              <a:extLst>
                <a:ext uri="{FF2B5EF4-FFF2-40B4-BE49-F238E27FC236}">
                  <a16:creationId xmlns:a16="http://schemas.microsoft.com/office/drawing/2014/main" id="{938AFE2E-6D45-4FEA-5D0A-2055BF81ECC2}"/>
                </a:ext>
              </a:extLst>
            </p:cNvPr>
            <p:cNvSpPr txBox="1"/>
            <p:nvPr/>
          </p:nvSpPr>
          <p:spPr>
            <a:xfrm>
              <a:off x="4675333" y="3777135"/>
              <a:ext cx="2965400" cy="2843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992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dirty="0">
                  <a:solidFill>
                    <a:schemeClr val="bg1"/>
                  </a:solidFill>
                  <a:latin typeface="+mn-lt"/>
                </a:rPr>
                <a:t>The Pattern Finder</a:t>
              </a:r>
              <a:endParaRPr sz="1800" b="1" dirty="0">
                <a:solidFill>
                  <a:schemeClr val="bg1"/>
                </a:solidFill>
                <a:latin typeface="+mn-lt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F1131771-8AF7-8F08-C3B4-941D404D7B05}"/>
              </a:ext>
            </a:extLst>
          </p:cNvPr>
          <p:cNvGrpSpPr/>
          <p:nvPr/>
        </p:nvGrpSpPr>
        <p:grpSpPr>
          <a:xfrm>
            <a:off x="7917003" y="2070850"/>
            <a:ext cx="3910374" cy="3083039"/>
            <a:chOff x="8064400" y="2717601"/>
            <a:chExt cx="3556099" cy="2260996"/>
          </a:xfrm>
        </p:grpSpPr>
        <p:pic>
          <p:nvPicPr>
            <p:cNvPr id="236" name="Google Shape;236;p24" descr="image.png">
              <a:extLst>
                <a:ext uri="{FF2B5EF4-FFF2-40B4-BE49-F238E27FC236}">
                  <a16:creationId xmlns:a16="http://schemas.microsoft.com/office/drawing/2014/main" id="{E051514B-2F35-606A-8BD1-E302E5835733}"/>
                </a:ext>
              </a:extLst>
            </p:cNvPr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8064400" y="2717601"/>
              <a:ext cx="3556099" cy="22609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4" name="Google Shape;244;p24" descr="image.png">
              <a:extLst>
                <a:ext uri="{FF2B5EF4-FFF2-40B4-BE49-F238E27FC236}">
                  <a16:creationId xmlns:a16="http://schemas.microsoft.com/office/drawing/2014/main" id="{58F4F2F4-5567-2B42-0DED-C0AE06148C12}"/>
                </a:ext>
              </a:extLst>
            </p:cNvPr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8158016" y="2857808"/>
              <a:ext cx="2965549" cy="381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4">
              <a:extLst>
                <a:ext uri="{FF2B5EF4-FFF2-40B4-BE49-F238E27FC236}">
                  <a16:creationId xmlns:a16="http://schemas.microsoft.com/office/drawing/2014/main" id="{D47EBAEB-C8CB-3E5C-8061-B5063EF1DE5E}"/>
                </a:ext>
              </a:extLst>
            </p:cNvPr>
            <p:cNvSpPr txBox="1"/>
            <p:nvPr/>
          </p:nvSpPr>
          <p:spPr>
            <a:xfrm>
              <a:off x="8158016" y="3335650"/>
              <a:ext cx="3113826" cy="2031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dirty="0">
                  <a:solidFill>
                    <a:srgbClr val="F5F5F5"/>
                  </a:solidFill>
                  <a:latin typeface="+mn-lt"/>
                  <a:ea typeface="Urbanist"/>
                  <a:cs typeface="Urbanist"/>
                  <a:sym typeface="Urbanist"/>
                </a:rPr>
                <a:t>Hyperparameter Tuning </a:t>
              </a:r>
              <a:endParaRPr dirty="0">
                <a:latin typeface="+mn-lt"/>
              </a:endParaRPr>
            </a:p>
          </p:txBody>
        </p:sp>
        <p:sp>
          <p:nvSpPr>
            <p:cNvPr id="246" name="Google Shape;246;p24">
              <a:extLst>
                <a:ext uri="{FF2B5EF4-FFF2-40B4-BE49-F238E27FC236}">
                  <a16:creationId xmlns:a16="http://schemas.microsoft.com/office/drawing/2014/main" id="{3F292F2D-06E3-DC6D-A8AF-8BB86F855BB0}"/>
                </a:ext>
              </a:extLst>
            </p:cNvPr>
            <p:cNvSpPr txBox="1"/>
            <p:nvPr/>
          </p:nvSpPr>
          <p:spPr>
            <a:xfrm>
              <a:off x="8327134" y="3865302"/>
              <a:ext cx="2965549" cy="2843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992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dirty="0">
                  <a:solidFill>
                    <a:schemeClr val="bg1"/>
                  </a:solidFill>
                  <a:latin typeface="+mn-lt"/>
                </a:rPr>
                <a:t>The Optimization Tool</a:t>
              </a:r>
              <a:endParaRPr sz="1800" b="1" dirty="0">
                <a:solidFill>
                  <a:schemeClr val="bg1"/>
                </a:solidFill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754332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478478-2F87-EFA6-2FEA-A7F167395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2" name="Picture 4" descr="Data Analytics Enhances Performance Benchmarking">
            <a:extLst>
              <a:ext uri="{FF2B5EF4-FFF2-40B4-BE49-F238E27FC236}">
                <a16:creationId xmlns:a16="http://schemas.microsoft.com/office/drawing/2014/main" id="{4CD6C299-4A13-DF98-1097-EA5DEF6501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B16F900-B497-79E6-D35A-167097B09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431637" y="2679124"/>
            <a:ext cx="7772400" cy="1072572"/>
          </a:xfrm>
          <a:noFill/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latin typeface="+mn-lt"/>
              </a:rPr>
              <a:t>Models Evaluation </a:t>
            </a:r>
          </a:p>
        </p:txBody>
      </p:sp>
    </p:spTree>
    <p:extLst>
      <p:ext uri="{BB962C8B-B14F-4D97-AF65-F5344CB8AC3E}">
        <p14:creationId xmlns:p14="http://schemas.microsoft.com/office/powerpoint/2010/main" val="41187049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Shape 143">
          <a:extLst>
            <a:ext uri="{FF2B5EF4-FFF2-40B4-BE49-F238E27FC236}">
              <a16:creationId xmlns:a16="http://schemas.microsoft.com/office/drawing/2014/main" id="{35B50506-4B84-4F5B-3363-AF98197E3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7" descr="image.png">
            <a:extLst>
              <a:ext uri="{FF2B5EF4-FFF2-40B4-BE49-F238E27FC236}">
                <a16:creationId xmlns:a16="http://schemas.microsoft.com/office/drawing/2014/main" id="{36BCAD62-48CA-963B-E6EA-BB37D8FF2FE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63801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6F14BA17-293C-6CD6-BD19-23ACF64E57BC}"/>
              </a:ext>
            </a:extLst>
          </p:cNvPr>
          <p:cNvGrpSpPr/>
          <p:nvPr/>
        </p:nvGrpSpPr>
        <p:grpSpPr>
          <a:xfrm>
            <a:off x="7234726" y="-63802"/>
            <a:ext cx="4804874" cy="6794198"/>
            <a:chOff x="6150366" y="3003351"/>
            <a:chExt cx="5470134" cy="1985489"/>
          </a:xfrm>
        </p:grpSpPr>
        <p:pic>
          <p:nvPicPr>
            <p:cNvPr id="145" name="Google Shape;145;p17" descr="image.png">
              <a:extLst>
                <a:ext uri="{FF2B5EF4-FFF2-40B4-BE49-F238E27FC236}">
                  <a16:creationId xmlns:a16="http://schemas.microsoft.com/office/drawing/2014/main" id="{FCF3F15D-01D6-B151-2AE5-B190F8E40AF0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150366" y="3003351"/>
              <a:ext cx="5470134" cy="198548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7" name="Google Shape;147;p17">
              <a:extLst>
                <a:ext uri="{FF2B5EF4-FFF2-40B4-BE49-F238E27FC236}">
                  <a16:creationId xmlns:a16="http://schemas.microsoft.com/office/drawing/2014/main" id="{E7864FBC-5E7B-1B71-8013-57FDCE9061D9}"/>
                </a:ext>
              </a:extLst>
            </p:cNvPr>
            <p:cNvSpPr txBox="1"/>
            <p:nvPr/>
          </p:nvSpPr>
          <p:spPr>
            <a:xfrm>
              <a:off x="6445128" y="3181646"/>
              <a:ext cx="4880610" cy="170890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en-US" sz="2000" b="1" dirty="0">
                  <a:solidFill>
                    <a:schemeClr val="bg1"/>
                  </a:solidFill>
                  <a:latin typeface="+mn-lt"/>
                </a:rPr>
                <a:t>Predicted 533 loyal customers would stay.</a:t>
              </a: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endParaRPr lang="en-US" sz="2000" b="1" dirty="0">
                <a:solidFill>
                  <a:schemeClr val="bg1"/>
                </a:solidFill>
                <a:latin typeface="+mn-lt"/>
              </a:endParaRP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en-US" sz="2000" b="1" dirty="0">
                  <a:solidFill>
                    <a:schemeClr val="bg1"/>
                  </a:solidFill>
                  <a:latin typeface="+mn-lt"/>
                </a:rPr>
                <a:t>71 customers would exit and hence caught them.</a:t>
              </a:r>
            </a:p>
            <a:p>
              <a:pPr algn="l"/>
              <a:endParaRPr lang="en-US" sz="2000" b="1" dirty="0">
                <a:solidFill>
                  <a:schemeClr val="bg1"/>
                </a:solidFill>
                <a:latin typeface="+mn-lt"/>
              </a:endParaRP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en-US" sz="2000" b="1" dirty="0">
                  <a:solidFill>
                    <a:schemeClr val="bg1"/>
                  </a:solidFill>
                  <a:latin typeface="+mn-lt"/>
                </a:rPr>
                <a:t>Captures 73% of actual customer exits (71 out of 97).</a:t>
              </a: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endParaRPr lang="en-US" sz="2000" b="1" dirty="0">
                <a:solidFill>
                  <a:schemeClr val="bg1"/>
                </a:solidFill>
                <a:latin typeface="+mn-lt"/>
              </a:endParaRP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en-US" sz="2000" b="1" dirty="0">
                  <a:solidFill>
                    <a:schemeClr val="bg1"/>
                  </a:solidFill>
                  <a:latin typeface="+mn-lt"/>
                </a:rPr>
                <a:t>Focus on efficiency: No need to focus on 37 loyal customers who were incorrectly flagged.</a:t>
              </a: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endParaRPr lang="en-US" sz="2000" b="1" dirty="0">
                <a:solidFill>
                  <a:schemeClr val="bg1"/>
                </a:solidFill>
                <a:latin typeface="+mn-lt"/>
              </a:endParaRP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en-US" sz="2000" b="1" dirty="0">
                  <a:solidFill>
                    <a:schemeClr val="bg1"/>
                  </a:solidFill>
                  <a:latin typeface="+mn-lt"/>
                </a:rPr>
                <a:t>Targeted intervention: For every 108/ 71 are confirmed leavers. </a:t>
              </a: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endParaRPr lang="en-US" sz="2000" b="1" dirty="0">
                <a:solidFill>
                  <a:schemeClr val="bg1"/>
                </a:solidFill>
                <a:latin typeface="+mn-lt"/>
              </a:endParaRP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en-US" sz="2000" b="1" dirty="0">
                  <a:solidFill>
                    <a:schemeClr val="bg1"/>
                  </a:solidFill>
                  <a:latin typeface="+mn-lt"/>
                </a:rPr>
                <a:t>Allows targeted to a highly surgical data driven outreach. </a:t>
              </a: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endParaRPr sz="2000" b="1" dirty="0">
                <a:solidFill>
                  <a:schemeClr val="bg1"/>
                </a:solidFill>
                <a:latin typeface="+mn-lt"/>
              </a:endParaRPr>
            </a:p>
          </p:txBody>
        </p:sp>
      </p:grpSp>
      <p:sp>
        <p:nvSpPr>
          <p:cNvPr id="152" name="Google Shape;152;p17">
            <a:extLst>
              <a:ext uri="{FF2B5EF4-FFF2-40B4-BE49-F238E27FC236}">
                <a16:creationId xmlns:a16="http://schemas.microsoft.com/office/drawing/2014/main" id="{822C2066-DC00-D5AA-589D-1FC38FF7F420}"/>
              </a:ext>
            </a:extLst>
          </p:cNvPr>
          <p:cNvSpPr txBox="1"/>
          <p:nvPr/>
        </p:nvSpPr>
        <p:spPr>
          <a:xfrm>
            <a:off x="571500" y="2947392"/>
            <a:ext cx="381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pic>
        <p:nvPicPr>
          <p:cNvPr id="23554" name="Picture 2">
            <a:extLst>
              <a:ext uri="{FF2B5EF4-FFF2-40B4-BE49-F238E27FC236}">
                <a16:creationId xmlns:a16="http://schemas.microsoft.com/office/drawing/2014/main" id="{350B87CB-E41F-5F7F-6D54-E0F54482C3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74" y="673914"/>
            <a:ext cx="7084978" cy="6184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Google Shape;147;p17">
            <a:extLst>
              <a:ext uri="{FF2B5EF4-FFF2-40B4-BE49-F238E27FC236}">
                <a16:creationId xmlns:a16="http://schemas.microsoft.com/office/drawing/2014/main" id="{A0216168-F907-010A-FF8C-151D5B95D7B8}"/>
              </a:ext>
            </a:extLst>
          </p:cNvPr>
          <p:cNvSpPr txBox="1"/>
          <p:nvPr/>
        </p:nvSpPr>
        <p:spPr>
          <a:xfrm>
            <a:off x="152400" y="19675"/>
            <a:ext cx="57531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bg1"/>
                </a:solidFill>
                <a:latin typeface="+mn-lt"/>
              </a:rPr>
              <a:t>Confusion Matrix</a:t>
            </a:r>
            <a:endParaRPr sz="3600" b="1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406555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Shape 110">
          <a:extLst>
            <a:ext uri="{FF2B5EF4-FFF2-40B4-BE49-F238E27FC236}">
              <a16:creationId xmlns:a16="http://schemas.microsoft.com/office/drawing/2014/main" id="{0A033285-E420-C001-FBD7-A9338AAD7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5" descr="image.png">
            <a:extLst>
              <a:ext uri="{FF2B5EF4-FFF2-40B4-BE49-F238E27FC236}">
                <a16:creationId xmlns:a16="http://schemas.microsoft.com/office/drawing/2014/main" id="{6265277B-D7A2-B2EA-FB86-4C712E5A9AC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1430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>
            <a:extLst>
              <a:ext uri="{FF2B5EF4-FFF2-40B4-BE49-F238E27FC236}">
                <a16:creationId xmlns:a16="http://schemas.microsoft.com/office/drawing/2014/main" id="{3683668F-CD5B-2804-902B-40EDC65E385A}"/>
              </a:ext>
            </a:extLst>
          </p:cNvPr>
          <p:cNvSpPr txBox="1"/>
          <p:nvPr/>
        </p:nvSpPr>
        <p:spPr>
          <a:xfrm>
            <a:off x="432954" y="244554"/>
            <a:ext cx="10747664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What works best? </a:t>
            </a:r>
            <a:endParaRPr dirty="0"/>
          </a:p>
        </p:txBody>
      </p:sp>
      <p:sp>
        <p:nvSpPr>
          <p:cNvPr id="115" name="Google Shape;115;p15">
            <a:extLst>
              <a:ext uri="{FF2B5EF4-FFF2-40B4-BE49-F238E27FC236}">
                <a16:creationId xmlns:a16="http://schemas.microsoft.com/office/drawing/2014/main" id="{2B3CEFE5-F727-B6D2-038B-5E066C7CC4B0}"/>
              </a:ext>
            </a:extLst>
          </p:cNvPr>
          <p:cNvSpPr txBox="1"/>
          <p:nvPr/>
        </p:nvSpPr>
        <p:spPr>
          <a:xfrm>
            <a:off x="8431584" y="502687"/>
            <a:ext cx="3733368" cy="620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bg1"/>
                </a:solidFill>
                <a:latin typeface="Helvetica Neue" panose="02000503000000020004" pitchFamily="2" charset="0"/>
              </a:rPr>
              <a:t>The Decision Tree (Tuned), highest F1-Score of 0.70. </a:t>
            </a:r>
            <a:endParaRPr lang="en-US" sz="1800" b="1" i="0" dirty="0">
              <a:solidFill>
                <a:schemeClr val="bg1"/>
              </a:solidFill>
              <a:effectLst/>
              <a:latin typeface="Helvetica Neue" panose="02000503000000020004" pitchFamily="2" charset="0"/>
            </a:endParaRPr>
          </a:p>
          <a:p>
            <a:pPr marL="285750" marR="0" lvl="0" indent="-28575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800" b="1" i="0" dirty="0">
              <a:solidFill>
                <a:schemeClr val="bg1"/>
              </a:solidFill>
              <a:effectLst/>
              <a:latin typeface="Helvetica Neue" panose="02000503000000020004" pitchFamily="2" charset="0"/>
            </a:endParaRPr>
          </a:p>
          <a:p>
            <a:pPr marL="285750" marR="0" lvl="0" indent="-28575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bg1"/>
                </a:solidFill>
                <a:latin typeface="Helvetica Neue" panose="02000503000000020004" pitchFamily="2" charset="0"/>
              </a:rPr>
              <a:t>Recall of 0.73 identifies 73% of customer exits.</a:t>
            </a:r>
          </a:p>
          <a:p>
            <a:pPr marL="285750" marR="0" lvl="0" indent="-28575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bg1"/>
                </a:solidFill>
                <a:latin typeface="Helvetica Neue" panose="02000503000000020004" pitchFamily="2" charset="0"/>
              </a:rPr>
              <a:t> </a:t>
            </a:r>
          </a:p>
          <a:p>
            <a:pPr marL="285750" marR="0" lvl="0" indent="-28575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bg1"/>
                </a:solidFill>
                <a:latin typeface="Helvetica Neue" panose="02000503000000020004" pitchFamily="2" charset="0"/>
              </a:rPr>
              <a:t>The model flags 68% of customers for retention. </a:t>
            </a:r>
          </a:p>
          <a:p>
            <a:pPr marL="285750" marR="0" lvl="0" indent="-28575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800" b="1" dirty="0">
              <a:solidFill>
                <a:schemeClr val="bg1"/>
              </a:solidFill>
              <a:latin typeface="Helvetica Neue" panose="02000503000000020004" pitchFamily="2" charset="0"/>
            </a:endParaRPr>
          </a:p>
          <a:p>
            <a:pPr marL="285750" marR="0" lvl="0" indent="-28575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bg1"/>
                </a:solidFill>
                <a:latin typeface="Helvetica Neue" panose="02000503000000020004" pitchFamily="2" charset="0"/>
              </a:rPr>
              <a:t>Logistic Regression higher recall of 76%, low precision 38%.</a:t>
            </a:r>
          </a:p>
          <a:p>
            <a:pPr marL="285750" marR="0" lvl="0" indent="-28575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800" b="1" dirty="0">
              <a:solidFill>
                <a:schemeClr val="bg1"/>
              </a:solidFill>
              <a:latin typeface="Helvetica Neue" panose="02000503000000020004" pitchFamily="2" charset="0"/>
            </a:endParaRPr>
          </a:p>
          <a:p>
            <a:pPr marL="285750" marR="0" lvl="0" indent="-28575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bg1"/>
                </a:solidFill>
                <a:latin typeface="Helvetica Neue" panose="02000503000000020004" pitchFamily="2" charset="0"/>
              </a:rPr>
              <a:t>LR waste of resources compared the Tuned Decision Tree.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F14841CD-C51A-FD3F-0B96-4FDFFD67A2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47802"/>
            <a:ext cx="8512728" cy="4962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22434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Shape 143">
          <a:extLst>
            <a:ext uri="{FF2B5EF4-FFF2-40B4-BE49-F238E27FC236}">
              <a16:creationId xmlns:a16="http://schemas.microsoft.com/office/drawing/2014/main" id="{628B9509-FD98-155B-5E13-5295FA1CA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7" descr="image.png">
            <a:extLst>
              <a:ext uri="{FF2B5EF4-FFF2-40B4-BE49-F238E27FC236}">
                <a16:creationId xmlns:a16="http://schemas.microsoft.com/office/drawing/2014/main" id="{6FBFC6CB-4FF9-5705-E807-6B2FEEA302E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63801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1E46E1B0-DF30-9485-9C70-22B7D1652282}"/>
              </a:ext>
            </a:extLst>
          </p:cNvPr>
          <p:cNvGrpSpPr/>
          <p:nvPr/>
        </p:nvGrpSpPr>
        <p:grpSpPr>
          <a:xfrm>
            <a:off x="7158526" y="797956"/>
            <a:ext cx="4804874" cy="4272727"/>
            <a:chOff x="6150366" y="3003351"/>
            <a:chExt cx="5470134" cy="1985489"/>
          </a:xfrm>
        </p:grpSpPr>
        <p:pic>
          <p:nvPicPr>
            <p:cNvPr id="145" name="Google Shape;145;p17" descr="image.png">
              <a:extLst>
                <a:ext uri="{FF2B5EF4-FFF2-40B4-BE49-F238E27FC236}">
                  <a16:creationId xmlns:a16="http://schemas.microsoft.com/office/drawing/2014/main" id="{CF1F8F42-4491-F32E-4E3B-3F6DDB2B789F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150366" y="3003351"/>
              <a:ext cx="5470134" cy="198548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7" name="Google Shape;147;p17">
              <a:extLst>
                <a:ext uri="{FF2B5EF4-FFF2-40B4-BE49-F238E27FC236}">
                  <a16:creationId xmlns:a16="http://schemas.microsoft.com/office/drawing/2014/main" id="{7890F558-B6C7-C336-972B-DC6CDA907CA8}"/>
                </a:ext>
              </a:extLst>
            </p:cNvPr>
            <p:cNvSpPr txBox="1"/>
            <p:nvPr/>
          </p:nvSpPr>
          <p:spPr>
            <a:xfrm>
              <a:off x="6445128" y="3181646"/>
              <a:ext cx="4880610" cy="17162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en-US" sz="2000" b="1" dirty="0">
                  <a:solidFill>
                    <a:schemeClr val="bg1"/>
                  </a:solidFill>
                  <a:latin typeface="+mn-lt"/>
                </a:rPr>
                <a:t>Key drivers of Customer exiting </a:t>
              </a: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endParaRPr lang="en-US" sz="2000" b="1" dirty="0">
                <a:solidFill>
                  <a:schemeClr val="bg1"/>
                </a:solidFill>
                <a:latin typeface="+mn-lt"/>
              </a:endParaRP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en-US" sz="2000" b="1" dirty="0">
                  <a:solidFill>
                    <a:schemeClr val="bg1"/>
                  </a:solidFill>
                  <a:latin typeface="+mn-lt"/>
                </a:rPr>
                <a:t>Customer service calls  at 24%.</a:t>
              </a: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endParaRPr lang="en-US" sz="2000" b="1" dirty="0">
                <a:solidFill>
                  <a:schemeClr val="bg1"/>
                </a:solidFill>
                <a:latin typeface="+mn-lt"/>
              </a:endParaRP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en-US" sz="2000" b="1" dirty="0">
                  <a:solidFill>
                    <a:schemeClr val="bg1"/>
                  </a:solidFill>
                  <a:latin typeface="+mn-lt"/>
                </a:rPr>
                <a:t>International plan 20%.</a:t>
              </a: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endParaRPr lang="en-US" sz="2000" b="1" dirty="0">
                <a:solidFill>
                  <a:schemeClr val="bg1"/>
                </a:solidFill>
                <a:latin typeface="+mn-lt"/>
              </a:endParaRP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en-US" sz="2000" b="1" dirty="0">
                  <a:solidFill>
                    <a:schemeClr val="bg1"/>
                  </a:solidFill>
                  <a:latin typeface="+mn-lt"/>
                </a:rPr>
                <a:t>Total minutes 16% total charges at 18%</a:t>
              </a: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endParaRPr lang="en-US" sz="2000" b="1" dirty="0">
                <a:solidFill>
                  <a:schemeClr val="bg1"/>
                </a:solidFill>
                <a:latin typeface="+mn-lt"/>
              </a:endParaRP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en-US" sz="2000" b="1" dirty="0">
                  <a:solidFill>
                    <a:schemeClr val="bg1"/>
                  </a:solidFill>
                  <a:latin typeface="+mn-lt"/>
                </a:rPr>
                <a:t>Important to classify type or reasons for customer service calls. </a:t>
              </a:r>
              <a:endParaRPr sz="2000" b="1" dirty="0">
                <a:solidFill>
                  <a:schemeClr val="bg1"/>
                </a:solidFill>
                <a:latin typeface="+mn-lt"/>
              </a:endParaRPr>
            </a:p>
          </p:txBody>
        </p:sp>
      </p:grpSp>
      <p:sp>
        <p:nvSpPr>
          <p:cNvPr id="152" name="Google Shape;152;p17">
            <a:extLst>
              <a:ext uri="{FF2B5EF4-FFF2-40B4-BE49-F238E27FC236}">
                <a16:creationId xmlns:a16="http://schemas.microsoft.com/office/drawing/2014/main" id="{D77B5AD6-70F8-F8E7-7D68-6738F8EC7251}"/>
              </a:ext>
            </a:extLst>
          </p:cNvPr>
          <p:cNvSpPr txBox="1"/>
          <p:nvPr/>
        </p:nvSpPr>
        <p:spPr>
          <a:xfrm>
            <a:off x="571500" y="2947392"/>
            <a:ext cx="381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4" name="Google Shape;147;p17">
            <a:extLst>
              <a:ext uri="{FF2B5EF4-FFF2-40B4-BE49-F238E27FC236}">
                <a16:creationId xmlns:a16="http://schemas.microsoft.com/office/drawing/2014/main" id="{E6D38631-5896-AA7E-4608-3B42441E9DB9}"/>
              </a:ext>
            </a:extLst>
          </p:cNvPr>
          <p:cNvSpPr txBox="1"/>
          <p:nvPr/>
        </p:nvSpPr>
        <p:spPr>
          <a:xfrm>
            <a:off x="152400" y="19675"/>
            <a:ext cx="57531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600" b="1" i="0" u="none" strike="noStrike" cap="none" dirty="0">
                <a:solidFill>
                  <a:schemeClr val="bg1"/>
                </a:solidFill>
                <a:latin typeface="+mn-lt"/>
                <a:ea typeface="Urbanist"/>
                <a:cs typeface="Urbanist"/>
                <a:sym typeface="Urbanist"/>
              </a:rPr>
              <a:t>Early Warning Signals?</a:t>
            </a:r>
            <a:endParaRPr lang="en-US" sz="3600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25602" name="Picture 2">
            <a:extLst>
              <a:ext uri="{FF2B5EF4-FFF2-40B4-BE49-F238E27FC236}">
                <a16:creationId xmlns:a16="http://schemas.microsoft.com/office/drawing/2014/main" id="{E260DFFA-B633-9EBA-5B93-DDC8096C9B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24100"/>
            <a:ext cx="7158526" cy="4246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161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70F358-4F96-B703-72E8-2C1F1948C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 descr="Why Data Analytics is Important for Digital Transformation?">
            <a:extLst>
              <a:ext uri="{FF2B5EF4-FFF2-40B4-BE49-F238E27FC236}">
                <a16:creationId xmlns:a16="http://schemas.microsoft.com/office/drawing/2014/main" id="{F2730D2A-78EC-B985-EBF4-AA73A50162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57275"/>
            <a:ext cx="12192000" cy="4743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D25B26A-1956-80AA-9E80-6D301B250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431637" y="2679124"/>
            <a:ext cx="7772400" cy="1072572"/>
          </a:xfrm>
          <a:noFill/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latin typeface="+mn-lt"/>
              </a:rPr>
              <a:t>Insights</a:t>
            </a:r>
          </a:p>
        </p:txBody>
      </p:sp>
    </p:spTree>
    <p:extLst>
      <p:ext uri="{BB962C8B-B14F-4D97-AF65-F5344CB8AC3E}">
        <p14:creationId xmlns:p14="http://schemas.microsoft.com/office/powerpoint/2010/main" val="17254462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90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43100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9"/>
          <p:cNvSpPr txBox="1"/>
          <p:nvPr/>
        </p:nvSpPr>
        <p:spPr>
          <a:xfrm>
            <a:off x="124691" y="200025"/>
            <a:ext cx="10971068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5F5F5"/>
                </a:solidFill>
                <a:latin typeface="+mn-lt"/>
                <a:ea typeface="Urbanist"/>
                <a:cs typeface="Urbanist"/>
                <a:sym typeface="Urbanist"/>
              </a:rPr>
              <a:t>Strategic Insights.</a:t>
            </a:r>
            <a:endParaRPr dirty="0">
              <a:latin typeface="+mn-lt"/>
            </a:endParaRPr>
          </a:p>
        </p:txBody>
      </p:sp>
      <p:pic>
        <p:nvPicPr>
          <p:cNvPr id="171" name="Google Shape;171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4690" y="838200"/>
            <a:ext cx="6257061" cy="490537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9"/>
          <p:cNvSpPr txBox="1"/>
          <p:nvPr/>
        </p:nvSpPr>
        <p:spPr>
          <a:xfrm>
            <a:off x="6185622" y="754023"/>
            <a:ext cx="5500687" cy="5539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chemeClr val="bg1"/>
                </a:solidFill>
                <a:effectLst/>
                <a:latin typeface="+mn-lt"/>
              </a:rPr>
              <a:t>There "Frustration threshold": 3rd support call exit rate jumps from ~10% to 45.78% at four calls, 60%.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800" b="1" dirty="0">
              <a:solidFill>
                <a:schemeClr val="bg1"/>
              </a:solidFill>
              <a:latin typeface="+mn-lt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chemeClr val="bg1"/>
                </a:solidFill>
                <a:effectLst/>
                <a:latin typeface="+mn-lt"/>
              </a:rPr>
              <a:t>International plans customers show higher rate of exits than those without a plan.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800" b="1" dirty="0">
              <a:solidFill>
                <a:schemeClr val="bg1"/>
              </a:solidFill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+mn-lt"/>
              </a:rPr>
              <a:t>H</a:t>
            </a:r>
            <a:r>
              <a:rPr lang="en-US" sz="1800" b="0" i="0" dirty="0">
                <a:solidFill>
                  <a:schemeClr val="bg1"/>
                </a:solidFill>
                <a:effectLst/>
                <a:latin typeface="+mn-lt"/>
              </a:rPr>
              <a:t>igh vulnerability of high data users, customers with over 250 total day minutes have an exit rate of 46.95%, compared to only 10.95% for normal users.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bg1"/>
              </a:solidFill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chemeClr val="bg1"/>
                </a:solidFill>
                <a:effectLst/>
                <a:latin typeface="+mn-lt"/>
              </a:rPr>
              <a:t>High data user = revenue, exit equals loss revenue.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bg1"/>
              </a:solidFill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chemeClr val="bg1"/>
                </a:solidFill>
                <a:effectLst/>
                <a:latin typeface="+mn-lt"/>
              </a:rPr>
              <a:t>Predictive Power: Decision Tree (Tuned) model captures 73% of all actual customer exits before they leave, with a 66% accuracy rate on our intervention triggers..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bg1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Shape 143">
          <a:extLst>
            <a:ext uri="{FF2B5EF4-FFF2-40B4-BE49-F238E27FC236}">
              <a16:creationId xmlns:a16="http://schemas.microsoft.com/office/drawing/2014/main" id="{ED6EEED4-4ED6-F45E-44D1-745C16BED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7" descr="image.png">
            <a:extLst>
              <a:ext uri="{FF2B5EF4-FFF2-40B4-BE49-F238E27FC236}">
                <a16:creationId xmlns:a16="http://schemas.microsoft.com/office/drawing/2014/main" id="{9E1B65FE-72F3-EE3F-7890-9C34223257E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>
            <a:extLst>
              <a:ext uri="{FF2B5EF4-FFF2-40B4-BE49-F238E27FC236}">
                <a16:creationId xmlns:a16="http://schemas.microsoft.com/office/drawing/2014/main" id="{0674B50B-371A-8B8B-D279-DA5E39F9A072}"/>
              </a:ext>
            </a:extLst>
          </p:cNvPr>
          <p:cNvSpPr txBox="1"/>
          <p:nvPr/>
        </p:nvSpPr>
        <p:spPr>
          <a:xfrm>
            <a:off x="469322" y="109536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5F5F5"/>
                </a:solidFill>
                <a:latin typeface="+mn-lt"/>
                <a:ea typeface="Urbanist"/>
                <a:cs typeface="Urbanist"/>
                <a:sym typeface="Urbanist"/>
              </a:rPr>
              <a:t>Moving from Reactive to Proactive</a:t>
            </a:r>
            <a:endParaRPr lang="en-US" sz="3600" dirty="0">
              <a:latin typeface="+mn-lt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AA45F49-BB1B-667D-C85B-FC7A4F361898}"/>
              </a:ext>
            </a:extLst>
          </p:cNvPr>
          <p:cNvGrpSpPr/>
          <p:nvPr/>
        </p:nvGrpSpPr>
        <p:grpSpPr>
          <a:xfrm>
            <a:off x="469322" y="934044"/>
            <a:ext cx="10808277" cy="4708981"/>
            <a:chOff x="6042660" y="2915245"/>
            <a:chExt cx="5238750" cy="1706516"/>
          </a:xfrm>
        </p:grpSpPr>
        <p:pic>
          <p:nvPicPr>
            <p:cNvPr id="145" name="Google Shape;145;p17" descr="image.png">
              <a:extLst>
                <a:ext uri="{FF2B5EF4-FFF2-40B4-BE49-F238E27FC236}">
                  <a16:creationId xmlns:a16="http://schemas.microsoft.com/office/drawing/2014/main" id="{2CFE2A4A-8BA1-CDA9-C5B1-30A5AD99E1F0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042660" y="2915245"/>
              <a:ext cx="5238750" cy="168949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7" name="Google Shape;147;p17">
              <a:extLst>
                <a:ext uri="{FF2B5EF4-FFF2-40B4-BE49-F238E27FC236}">
                  <a16:creationId xmlns:a16="http://schemas.microsoft.com/office/drawing/2014/main" id="{6D5BE9DF-16C0-9BBF-1795-5A04FF44A4F8}"/>
                </a:ext>
              </a:extLst>
            </p:cNvPr>
            <p:cNvSpPr txBox="1"/>
            <p:nvPr/>
          </p:nvSpPr>
          <p:spPr>
            <a:xfrm>
              <a:off x="6042660" y="2915245"/>
              <a:ext cx="4880610" cy="17065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285750" indent="-285750" algn="l">
                <a:buFont typeface="Courier New" panose="02070309020205020404" pitchFamily="49" charset="0"/>
                <a:buChar char="o"/>
              </a:pPr>
              <a:r>
                <a:rPr lang="en-US" sz="1800" b="1" i="0" dirty="0">
                  <a:solidFill>
                    <a:schemeClr val="bg1"/>
                  </a:solidFill>
                  <a:effectLst/>
                  <a:latin typeface="+mn-lt"/>
                </a:rPr>
                <a:t>High-value customers retention: Strategic retention strategy for high usage customers.</a:t>
              </a:r>
            </a:p>
            <a:p>
              <a:pPr marL="285750" indent="-285750" algn="l">
                <a:buFont typeface="Courier New" panose="02070309020205020404" pitchFamily="49" charset="0"/>
                <a:buChar char="o"/>
              </a:pPr>
              <a:endParaRPr lang="en-US" sz="1800" b="1" i="0" dirty="0">
                <a:solidFill>
                  <a:schemeClr val="bg1"/>
                </a:solidFill>
                <a:effectLst/>
                <a:latin typeface="+mn-lt"/>
              </a:endParaRPr>
            </a:p>
            <a:p>
              <a:pPr marL="285750" indent="-285750" algn="l">
                <a:buFont typeface="Courier New" panose="02070309020205020404" pitchFamily="49" charset="0"/>
                <a:buChar char="o"/>
              </a:pPr>
              <a:r>
                <a:rPr lang="en-US" sz="1800" b="1" i="0" dirty="0">
                  <a:solidFill>
                    <a:schemeClr val="bg1"/>
                  </a:solidFill>
                  <a:effectLst/>
                  <a:latin typeface="+mn-lt"/>
                </a:rPr>
                <a:t>Improve customer experience, flag monitor customers with repeated complaints.</a:t>
              </a:r>
            </a:p>
            <a:p>
              <a:pPr marL="285750" indent="-285750" algn="l">
                <a:buFont typeface="Courier New" panose="02070309020205020404" pitchFamily="49" charset="0"/>
                <a:buChar char="o"/>
              </a:pPr>
              <a:endParaRPr lang="en-US" sz="1800" b="1" i="0" dirty="0">
                <a:solidFill>
                  <a:schemeClr val="bg1"/>
                </a:solidFill>
                <a:effectLst/>
                <a:latin typeface="+mn-lt"/>
              </a:endParaRPr>
            </a:p>
            <a:p>
              <a:pPr marL="285750" indent="-285750" algn="l">
                <a:buFont typeface="Courier New" panose="02070309020205020404" pitchFamily="49" charset="0"/>
                <a:buChar char="o"/>
              </a:pPr>
              <a:r>
                <a:rPr lang="en-US" sz="1800" b="1" i="0" dirty="0">
                  <a:solidFill>
                    <a:schemeClr val="bg1"/>
                  </a:solidFill>
                  <a:effectLst/>
                  <a:latin typeface="+mn-lt"/>
                </a:rPr>
                <a:t>Support "Red Flag" system to spot customers spike on 3th calls and escalate the issue further action.</a:t>
              </a:r>
            </a:p>
            <a:p>
              <a:pPr marL="285750" indent="-285750" algn="l">
                <a:buFont typeface="Courier New" panose="02070309020205020404" pitchFamily="49" charset="0"/>
                <a:buChar char="o"/>
              </a:pPr>
              <a:endParaRPr lang="en-US" sz="1800" b="1" i="0" dirty="0">
                <a:solidFill>
                  <a:schemeClr val="bg1"/>
                </a:solidFill>
                <a:effectLst/>
                <a:latin typeface="+mn-lt"/>
              </a:endParaRPr>
            </a:p>
            <a:p>
              <a:pPr marL="285750" indent="-285750" algn="l">
                <a:buFont typeface="Courier New" panose="02070309020205020404" pitchFamily="49" charset="0"/>
                <a:buChar char="o"/>
              </a:pPr>
              <a:r>
                <a:rPr lang="en-US" sz="1800" b="1" i="0" dirty="0">
                  <a:solidFill>
                    <a:schemeClr val="bg1"/>
                  </a:solidFill>
                  <a:effectLst/>
                  <a:latin typeface="+mn-lt"/>
                </a:rPr>
                <a:t>Plans and Package restructuring: Optimize packages like international plans or day time offers.</a:t>
              </a:r>
            </a:p>
            <a:p>
              <a:pPr marL="285750" indent="-285750" algn="l">
                <a:buFont typeface="Courier New" panose="02070309020205020404" pitchFamily="49" charset="0"/>
                <a:buChar char="o"/>
              </a:pPr>
              <a:endParaRPr lang="en-US" sz="1800" b="1" i="0" dirty="0">
                <a:solidFill>
                  <a:schemeClr val="bg1"/>
                </a:solidFill>
                <a:effectLst/>
                <a:latin typeface="+mn-lt"/>
              </a:endParaRPr>
            </a:p>
            <a:p>
              <a:pPr marL="285750" indent="-285750" algn="l">
                <a:buFont typeface="Courier New" panose="02070309020205020404" pitchFamily="49" charset="0"/>
                <a:buChar char="o"/>
              </a:pPr>
              <a:r>
                <a:rPr lang="en-US" sz="1800" b="1" i="0" dirty="0">
                  <a:solidFill>
                    <a:schemeClr val="bg1"/>
                  </a:solidFill>
                  <a:effectLst/>
                  <a:latin typeface="+mn-lt"/>
                </a:rPr>
                <a:t>Customer acquisition review onboarding experience and improve new customer incentives for a period.</a:t>
              </a:r>
            </a:p>
            <a:p>
              <a:pPr marL="285750" indent="-285750" algn="l">
                <a:buFont typeface="Courier New" panose="02070309020205020404" pitchFamily="49" charset="0"/>
                <a:buChar char="o"/>
              </a:pPr>
              <a:endParaRPr lang="en-US" sz="1800" b="1" i="0" dirty="0">
                <a:solidFill>
                  <a:schemeClr val="bg1"/>
                </a:solidFill>
                <a:effectLst/>
                <a:latin typeface="+mn-lt"/>
              </a:endParaRPr>
            </a:p>
            <a:p>
              <a:pPr marL="285750" indent="-285750" algn="l">
                <a:buFont typeface="Courier New" panose="02070309020205020404" pitchFamily="49" charset="0"/>
                <a:buChar char="o"/>
              </a:pPr>
              <a:r>
                <a:rPr lang="en-US" sz="1800" b="1" i="0" dirty="0">
                  <a:solidFill>
                    <a:schemeClr val="bg1"/>
                  </a:solidFill>
                  <a:effectLst/>
                  <a:latin typeface="+mn-lt"/>
                </a:rPr>
                <a:t>Targeted marketing focusing on high-risk customers and loyal customers.</a:t>
              </a:r>
            </a:p>
            <a:p>
              <a:pPr marL="285750" indent="-285750" algn="l">
                <a:buFont typeface="Courier New" panose="02070309020205020404" pitchFamily="49" charset="0"/>
                <a:buChar char="o"/>
              </a:pPr>
              <a:endParaRPr lang="en-US" sz="1800" b="1" i="0" dirty="0">
                <a:solidFill>
                  <a:schemeClr val="bg1"/>
                </a:solidFill>
                <a:effectLst/>
                <a:latin typeface="+mn-lt"/>
              </a:endParaRPr>
            </a:p>
            <a:p>
              <a:pPr marL="285750" indent="-285750" algn="l">
                <a:buFont typeface="Courier New" panose="02070309020205020404" pitchFamily="49" charset="0"/>
                <a:buChar char="o"/>
              </a:pPr>
              <a:r>
                <a:rPr lang="en-US" sz="1800" b="1" i="0" dirty="0">
                  <a:solidFill>
                    <a:schemeClr val="bg1"/>
                  </a:solidFill>
                  <a:effectLst/>
                  <a:latin typeface="+mn-lt"/>
                </a:rPr>
                <a:t>Integrate daily/weekly exit scoring and link it to customer experience teams to follow up.</a:t>
              </a:r>
            </a:p>
            <a:p>
              <a:pPr marL="285750" marR="0" lvl="0" indent="-285750" algn="l" rtl="0">
                <a:spcBef>
                  <a:spcPts val="0"/>
                </a:spcBef>
                <a:spcAft>
                  <a:spcPts val="0"/>
                </a:spcAft>
                <a:buFont typeface="Courier New" panose="02070309020205020404" pitchFamily="49" charset="0"/>
                <a:buChar char="o"/>
              </a:pPr>
              <a:endParaRPr sz="1800" b="1" dirty="0">
                <a:solidFill>
                  <a:schemeClr val="bg1"/>
                </a:solidFill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081143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5"/>
          <p:cNvSpPr txBox="1"/>
          <p:nvPr/>
        </p:nvSpPr>
        <p:spPr>
          <a:xfrm>
            <a:off x="295275" y="2647057"/>
            <a:ext cx="11601450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1" dirty="0">
                <a:solidFill>
                  <a:schemeClr val="bg1"/>
                </a:solidFill>
                <a:latin typeface="+mn-lt"/>
              </a:rPr>
              <a:t>“From predicting exits to preventing them—this is where data turns into revenue protection.”</a:t>
            </a:r>
            <a:endParaRPr sz="2800" b="1" i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53" name="Google Shape;253;p25"/>
          <p:cNvSpPr txBox="1"/>
          <p:nvPr/>
        </p:nvSpPr>
        <p:spPr>
          <a:xfrm>
            <a:off x="1352550" y="4185542"/>
            <a:ext cx="9731086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DAFFDE"/>
                </a:solidFill>
                <a:latin typeface="+mn-lt"/>
                <a:ea typeface="Urbanist"/>
                <a:cs typeface="Urbanist"/>
                <a:sym typeface="Urbanist"/>
              </a:rPr>
              <a:t>By leveraging machine learning, </a:t>
            </a:r>
            <a:r>
              <a:rPr lang="en-US" sz="2000" b="1" i="0" u="none" strike="noStrike" cap="none" dirty="0" err="1">
                <a:solidFill>
                  <a:srgbClr val="DAFFDE"/>
                </a:solidFill>
                <a:latin typeface="+mn-lt"/>
                <a:ea typeface="Urbanist"/>
                <a:cs typeface="Urbanist"/>
                <a:sym typeface="Urbanist"/>
              </a:rPr>
              <a:t>SyriaTel</a:t>
            </a:r>
            <a:r>
              <a:rPr lang="en-US" sz="2000" b="1" i="0" u="none" strike="noStrike" cap="none" dirty="0">
                <a:solidFill>
                  <a:srgbClr val="DAFFDE"/>
                </a:solidFill>
                <a:latin typeface="+mn-lt"/>
                <a:ea typeface="Urbanist"/>
                <a:cs typeface="Urbanist"/>
                <a:sym typeface="Urbanist"/>
              </a:rPr>
              <a:t> can stop the "Silent Goodbye" and significantly reduce revenue erosion through data-driven customer loyalty.</a:t>
            </a:r>
            <a:endParaRPr sz="2000" b="1" dirty="0">
              <a:latin typeface="+mn-l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6"/>
          <p:cNvSpPr txBox="1"/>
          <p:nvPr/>
        </p:nvSpPr>
        <p:spPr>
          <a:xfrm>
            <a:off x="295275" y="2602259"/>
            <a:ext cx="116014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</TotalTime>
  <Words>1002</Words>
  <Application>Microsoft Macintosh PowerPoint</Application>
  <PresentationFormat>Widescreen</PresentationFormat>
  <Paragraphs>197</Paragraphs>
  <Slides>24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 Black</vt:lpstr>
      <vt:lpstr>Helvetica Neue</vt:lpstr>
      <vt:lpstr>Courier New</vt:lpstr>
      <vt:lpstr>Arial</vt:lpstr>
      <vt:lpstr>Urbanist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Data Exploration </vt:lpstr>
      <vt:lpstr>PowerPoint Presentation</vt:lpstr>
      <vt:lpstr>Checking Outliers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Data Modeling </vt:lpstr>
      <vt:lpstr>PowerPoint Presentation</vt:lpstr>
      <vt:lpstr>PowerPoint Presentation</vt:lpstr>
      <vt:lpstr>Models Evaluation </vt:lpstr>
      <vt:lpstr>PowerPoint Presentation</vt:lpstr>
      <vt:lpstr>PowerPoint Presentation</vt:lpstr>
      <vt:lpstr>PowerPoint Presentation</vt:lpstr>
      <vt:lpstr>Insights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jane</cp:lastModifiedBy>
  <cp:revision>4</cp:revision>
  <cp:lastPrinted>2026-05-05T22:48:45Z</cp:lastPrinted>
  <dcterms:modified xsi:type="dcterms:W3CDTF">2026-05-06T00:25:45Z</dcterms:modified>
</cp:coreProperties>
</file>